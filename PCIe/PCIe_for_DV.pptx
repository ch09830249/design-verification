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9" r:id="rId7"/>
    <p:sldMasterId id="2147483661" r:id="rId8"/>
    <p:sldMasterId id="2147483663" r:id="rId9"/>
    <p:sldMasterId id="2147483665" r:id="rId10"/>
    <p:sldMasterId id="2147483667" r:id="rId11"/>
    <p:sldMasterId id="2147483669" r:id="rId12"/>
    <p:sldMasterId id="2147483671" r:id="rId13"/>
    <p:sldMasterId id="2147483673" r:id="rId14"/>
    <p:sldMasterId id="2147483675" r:id="rId15"/>
    <p:sldMasterId id="2147483677" r:id="rId16"/>
    <p:sldMasterId id="2147483679" r:id="rId17"/>
    <p:sldMasterId id="2147483681" r:id="rId18"/>
    <p:sldMasterId id="2147483683" r:id="rId19"/>
    <p:sldMasterId id="2147483685" r:id="rId20"/>
    <p:sldMasterId id="2147483687" r:id="rId21"/>
    <p:sldMasterId id="2147483689" r:id="rId22"/>
    <p:sldMasterId id="2147483691" r:id="rId23"/>
  </p:sldMasterIdLst>
  <p:notesMasterIdLst>
    <p:notesMasterId r:id="rId24"/>
  </p:notesMasterIdLst>
  <p:sldIdLst>
    <p:sldId id="267" r:id="rId29"/>
    <p:sldId id="268" r:id="rId30"/>
    <p:sldId id="269" r:id="rId31"/>
    <p:sldId id="270" r:id="rId32"/>
    <p:sldId id="271" r:id="rId33"/>
    <p:sldId id="272" r:id="rId34"/>
    <p:sldId id="273" r:id="rId28"/>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318" r:id="rId35"/>
    <p:sldId id="29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65"/>
    <p:sldId id="304" r:id="rId66"/>
    <p:sldId id="305" r:id="rId67"/>
    <p:sldId id="306" r:id="rId68"/>
    <p:sldId id="307" r:id="rId69"/>
    <p:sldId id="308" r:id="rId70"/>
    <p:sldId id="309" r:id="rId71"/>
    <p:sldId id="310" r:id="rId72"/>
    <p:sldId id="311" r:id="rId73"/>
    <p:sldId id="312" r:id="rId74"/>
    <p:sldId id="313" r:id="rId75"/>
    <p:sldId id="314" r:id="rId76"/>
    <p:sldId id="315" r:id="rId77"/>
    <p:sldId id="316" r:id="rId78"/>
    <p:sldId id="317" r:id="rId7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notesMaster" Target="notesMasters/notesMaster1.xml"/><Relationship Id="rId28" Type="http://schemas.openxmlformats.org/officeDocument/2006/relationships/slide" Target="slides/slide7.xml"/><Relationship Id="rId29" Type="http://schemas.openxmlformats.org/officeDocument/2006/relationships/slide" Target="slides/slide1.xml"/><Relationship Id="rId30" Type="http://schemas.openxmlformats.org/officeDocument/2006/relationships/slide" Target="slides/slide2.xml"/><Relationship Id="rId31" Type="http://schemas.openxmlformats.org/officeDocument/2006/relationships/slide" Target="slides/slide3.xml"/><Relationship Id="rId32" Type="http://schemas.openxmlformats.org/officeDocument/2006/relationships/slide" Target="slides/slide4.xml"/><Relationship Id="rId33" Type="http://schemas.openxmlformats.org/officeDocument/2006/relationships/slide" Target="slides/slide5.xml"/><Relationship Id="rId34" Type="http://schemas.openxmlformats.org/officeDocument/2006/relationships/slide" Target="slides/slide6.xml"/><Relationship Id="rId35" Type="http://schemas.openxmlformats.org/officeDocument/2006/relationships/slide" Target="slides/slide52.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15.xml"/><Relationship Id="rId44" Type="http://schemas.openxmlformats.org/officeDocument/2006/relationships/slide" Target="slides/slide16.xml"/><Relationship Id="rId45" Type="http://schemas.openxmlformats.org/officeDocument/2006/relationships/slide" Target="slides/slide17.xml"/><Relationship Id="rId46" Type="http://schemas.openxmlformats.org/officeDocument/2006/relationships/slide" Target="slides/slide18.xml"/><Relationship Id="rId47" Type="http://schemas.openxmlformats.org/officeDocument/2006/relationships/slide" Target="slides/slide19.xml"/><Relationship Id="rId48" Type="http://schemas.openxmlformats.org/officeDocument/2006/relationships/slide" Target="slides/slide20.xml"/><Relationship Id="rId49" Type="http://schemas.openxmlformats.org/officeDocument/2006/relationships/slide" Target="slides/slide21.xml"/><Relationship Id="rId50" Type="http://schemas.openxmlformats.org/officeDocument/2006/relationships/slide" Target="slides/slide22.xml"/><Relationship Id="rId51" Type="http://schemas.openxmlformats.org/officeDocument/2006/relationships/slide" Target="slides/slide23.xml"/><Relationship Id="rId52" Type="http://schemas.openxmlformats.org/officeDocument/2006/relationships/slide" Target="slides/slide24.xml"/><Relationship Id="rId53" Type="http://schemas.openxmlformats.org/officeDocument/2006/relationships/slide" Target="slides/slide25.xml"/><Relationship Id="rId54" Type="http://schemas.openxmlformats.org/officeDocument/2006/relationships/slide" Target="slides/slide26.xml"/><Relationship Id="rId55" Type="http://schemas.openxmlformats.org/officeDocument/2006/relationships/slide" Target="slides/slide27.xml"/><Relationship Id="rId56" Type="http://schemas.openxmlformats.org/officeDocument/2006/relationships/slide" Target="slides/slide28.xml"/><Relationship Id="rId57" Type="http://schemas.openxmlformats.org/officeDocument/2006/relationships/slide" Target="slides/slide29.xml"/><Relationship Id="rId58" Type="http://schemas.openxmlformats.org/officeDocument/2006/relationships/slide" Target="slides/slide30.xml"/><Relationship Id="rId59" Type="http://schemas.openxmlformats.org/officeDocument/2006/relationships/slide" Target="slides/slide31.xml"/><Relationship Id="rId60" Type="http://schemas.openxmlformats.org/officeDocument/2006/relationships/slide" Target="slides/slide32.xml"/><Relationship Id="rId61" Type="http://schemas.openxmlformats.org/officeDocument/2006/relationships/slide" Target="slides/slide33.xml"/><Relationship Id="rId62" Type="http://schemas.openxmlformats.org/officeDocument/2006/relationships/slide" Target="slides/slide34.xml"/><Relationship Id="rId63" Type="http://schemas.openxmlformats.org/officeDocument/2006/relationships/slide" Target="slides/slide35.xml"/><Relationship Id="rId64" Type="http://schemas.openxmlformats.org/officeDocument/2006/relationships/slide" Target="slides/slide36.xml"/><Relationship Id="rId65"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8" Type="http://schemas.openxmlformats.org/officeDocument/2006/relationships/slide" Target="slides/slide40.xml"/><Relationship Id="rId69" Type="http://schemas.openxmlformats.org/officeDocument/2006/relationships/slide" Target="slides/slide41.xml"/><Relationship Id="rId70" Type="http://schemas.openxmlformats.org/officeDocument/2006/relationships/slide" Target="slides/slide42.xml"/><Relationship Id="rId71" Type="http://schemas.openxmlformats.org/officeDocument/2006/relationships/slide" Target="slides/slide43.xml"/><Relationship Id="rId72" Type="http://schemas.openxmlformats.org/officeDocument/2006/relationships/slide" Target="slides/slide44.xml"/><Relationship Id="rId73"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7" Type="http://schemas.openxmlformats.org/officeDocument/2006/relationships/slide" Target="slides/slide49.xml"/><Relationship Id="rId78" Type="http://schemas.openxmlformats.org/officeDocument/2006/relationships/slide" Target="slides/slide50.xml"/><Relationship Id="rId79" Type="http://schemas.openxmlformats.org/officeDocument/2006/relationships/slide" Target="slides/slide51.xml"/><Relationship Id="rId14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zh-TW" sz="4400" spc="-1" strike="noStrike">
                <a:solidFill>
                  <a:srgbClr val="000000"/>
                </a:solidFill>
                <a:latin typeface="Arial"/>
              </a:rPr>
              <a:t>請按這裡移動投影片</a:t>
            </a:r>
            <a:endParaRPr b="0" lang="en-US" sz="4400" spc="-1" strike="noStrike">
              <a:solidFill>
                <a:srgbClr val="000000"/>
              </a:solidFill>
              <a:latin typeface="Arial"/>
            </a:endParaRPr>
          </a:p>
        </p:txBody>
      </p:sp>
      <p:sp>
        <p:nvSpPr>
          <p:cNvPr id="10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zh-TW" sz="2000" spc="-1" strike="noStrike">
                <a:solidFill>
                  <a:srgbClr val="000000"/>
                </a:solidFill>
                <a:latin typeface="Arial"/>
              </a:rPr>
              <a:t>請按這裡編輯備註格式</a:t>
            </a:r>
            <a:endParaRPr b="0" lang="en-US" sz="2000" spc="-1" strike="noStrike">
              <a:solidFill>
                <a:srgbClr val="000000"/>
              </a:solidFill>
              <a:latin typeface="Arial"/>
            </a:endParaRPr>
          </a:p>
        </p:txBody>
      </p:sp>
      <p:sp>
        <p:nvSpPr>
          <p:cNvPr id="10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&lt;頁首&gt;</a:t>
            </a:r>
            <a:endParaRPr b="0" lang="en-US" sz="1400" spc="-1" strike="noStrike">
              <a:solidFill>
                <a:srgbClr val="000000"/>
              </a:solidFill>
              <a:latin typeface="Times New Roman"/>
            </a:endParaRPr>
          </a:p>
        </p:txBody>
      </p:sp>
      <p:sp>
        <p:nvSpPr>
          <p:cNvPr id="106" name="PlaceHolder 4"/>
          <p:cNvSpPr>
            <a:spLocks noGrp="1"/>
          </p:cNvSpPr>
          <p:nvPr>
            <p:ph type="dt" idx="67"/>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
        <p:nvSpPr>
          <p:cNvPr id="107" name="PlaceHolder 5"/>
          <p:cNvSpPr>
            <a:spLocks noGrp="1"/>
          </p:cNvSpPr>
          <p:nvPr>
            <p:ph type="ftr" idx="68"/>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108" name="PlaceHolder 6"/>
          <p:cNvSpPr>
            <a:spLocks noGrp="1"/>
          </p:cNvSpPr>
          <p:nvPr>
            <p:ph type="sldNum" idx="69"/>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4223105-D640-4E0B-8C7A-2EC2C6A79718}"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第二章講流量控制。第一部分已經講過概念 —— 發送方要有足夠的 credit 才能送，避免對方緩衝區塞爆。但驗證要的是實際的帳目：credit 分成哪幾類、一個 credit 代表多少、初始化的時候怎麼交換、用掉之後怎麼還回來。這些細節如果算錯，症狀通常是「跑一陣子之後莫名其妙卡住」，而且很難查，因為看起來像是死結但實際上是 credit 算錯導致發送方以為沒額度了。這一章的內容對應 spec 的 2.6 節。</a:t>
            </a:r>
          </a:p>
        </p:txBody>
      </p:sp>
      <p:sp>
        <p:nvSpPr>
          <p:cNvPr id="4" name="Slide Number Placeholder 3"/>
          <p:cNvSpPr>
            <a:spLocks noGrp="1"/>
          </p:cNvSpPr>
          <p:nvPr>
            <p:ph type="sldNum" idx="69"/>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Poisoned TLP 的設計哲學很有意思：資料已經知道有問題了，為什麼還要送出去？因為丟掉的話，接收端只會遇到逾時，什麼資訊都沒有；送過去並標記「這是壞的」，接收端就能明確知道發生什麼事，做出更好的處理。典型的來源是記憶體 ECC 偵測到不可修正的錯誤 —— 資料已經壞了，但至少知道它壞了。標記方式就是把 Header 裡的 EP 位元設成 1。接收端的處理是判為 Non-Fatal、記錄下來、而且絕對不能把那份資料當有效資料用。這裡有個很容易被忽略的點，我特別強調：Poisoned 封包在格式上是完全正確的，它不是 Malformed。所以它的 LCRC 是對的、ECRC 是對的、路由欄位也是對的，它應該正常通過所有檢查、正常被 Switch 轉發到目的地。如果你的 DUT 看到 EP=1 就把封包丟掉，那是錯的 —— 這是驗證時很常見的實作缺陷，值得專門寫一個測試。</a:t>
            </a:r>
          </a:p>
        </p:txBody>
      </p:sp>
      <p:sp>
        <p:nvSpPr>
          <p:cNvPr id="4" name="Slide Number Placeholder 3"/>
          <p:cNvSpPr>
            <a:spLocks noGrp="1"/>
          </p:cNvSpPr>
          <p:nvPr>
            <p:ph type="sldNum" idx="69"/>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這頁按層別整理錯誤，對驗證特別有用，因為你注入錯誤的時候是在特定的層做手腳，就應該在特定的層被抓到。物理層抓的是解碼失敗跟彈性緩衝溢位，這些都算 Correctable。資料鏈結層抓三種：LCRC 不符或序號不對叫 Bad TLP，回一個 Nak 要求重傳；DLLP 的 CRC16 不符叫 Bad DLLP，因為 DLLP 沒有重傳機制，所以直接丟棄；比較特別的是 Data Link Protocol Error —— 如果收到的 Ack 序號根本不合法，例如確認了一個從來沒送出去的封包，那代表對面的狀態機已經亂了，這個直接判 Fatal。事務層抓的種類最多，Malformed 是 Fatal，其他大多是 Non-Fatal。最後那行是驗證的重點：你在物理層注入一個位元錯誤，應該看到物理層或資料鏈結層報 Correctable，如果你的 DUT 報成事務層的 Malformed，那就是判定邏輯有問題 —— 這種錯誤在整合測試時很難抓，單元層級就要驗出來。</a:t>
            </a:r>
          </a:p>
        </p:txBody>
      </p:sp>
      <p:sp>
        <p:nvSpPr>
          <p:cNvPr id="4" name="Slide Number Placeholder 3"/>
          <p:cNvSpPr>
            <a:spLocks noGrp="1"/>
          </p:cNvSpPr>
          <p:nvPr>
            <p:ph type="sldNum" idx="69"/>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這份是 PCIe 教學的第二部分，專門給要做驗證的人。第一部分我們建立的是協定的心智模型 —— PCIe 由哪些角色組成、封包長什麼樣子、怎麼路由、怎麼枚舉。那些內容足夠讓你看懂一份 analyzer trace，也足夠跟設計端對話。但驗證要做的事不一樣：驗證的價值在錯誤路徑，在邊界條件，在那些「正常情況下永遠不會發生、但一旦發生就是災難」的場景。所以這一份會把重點放在第一部分刻意略過的東西 —— 錯誤怎麼分類、credit 怎麼算、計時器多久、排序規則的完整表格、LTSSM 的子狀態跟 timeout、暫存器屬性。這些都是寫 checker、規劃 coverage、設計 error injection 時每天都會用到的。內容比第一部分硬，但每一節最後我都放了一頁驗證重點，可以直接當作測試項目的起點。</a:t>
            </a:r>
          </a:p>
        </p:txBody>
      </p:sp>
      <p:sp>
        <p:nvSpPr>
          <p:cNvPr id="4" name="Slide Number Placeholder 3"/>
          <p:cNvSpPr>
            <a:spLocks noGrp="1"/>
          </p:cNvSpPr>
          <p:nvPr>
            <p:ph type="sldNum" idx="69"/>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這是這份簡報的路線圖。前四章是協定機制的細節 —— 錯誤、流控、重傳、排序，這四個是 DV 花最多時間的地方，也是第一部分講得最淺的地方。第五章回到 LTSSM，但這次要鑽到子狀態跟 timeout，因為 link training 的問題幾乎都是卡在某個子狀態的特定條件上。第六章講暫存器屬性，這是寫 register test 的基礎。第七章是 compliance 跟測試模式。第八章講 Gen6 的 FLIT 模式，因為它改變的是封包結構本身，如果你要驗 Gen6 的東西，前面學的很多假設都要重新檢視。最後一章是驗證規劃的建議跟延伸閱讀。每一章結尾我都會放一頁驗證重點，那幾頁可以直接拿去當測試計畫的起點。</a:t>
            </a:r>
          </a:p>
        </p:txBody>
      </p:sp>
      <p:sp>
        <p:nvSpPr>
          <p:cNvPr id="4" name="Slide Number Placeholder 3"/>
          <p:cNvSpPr>
            <a:spLocks noGrp="1"/>
          </p:cNvSpPr>
          <p:nvPr>
            <p:ph type="sldNum" idx="69"/>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先講錯誤處理，因為這是驗證最核心的戰場。設計工程師關心的是正常路徑跑得順不順，驗證工程師關心的是異常路徑會不會炸。PCIe 的錯誤機制設計得相當完整，它不只是「出錯了就報錯」，而是有一整套分類、偵測、回報、記錄的體系。這一章會回答幾個問題：錯誤有哪幾種嚴重性，各自該怎麼處理？哪些情況會被判定成錯誤，判定的條件是什麼？錯誤怎麼往上報給軟體？AER 裡面記了什麼？把這些搞清楚，你才知道要注入哪些錯誤、注入之後該期待看到什麼反應。這一章的內容基本上對應 spec 的第六章。</a:t>
            </a:r>
          </a:p>
        </p:txBody>
      </p:sp>
      <p:sp>
        <p:nvSpPr>
          <p:cNvPr id="4" name="Slide Number Placeholder 3"/>
          <p:cNvSpPr>
            <a:spLocks noGrp="1"/>
          </p:cNvSpPr>
          <p:nvPr>
            <p:ph type="sldNum" idx="69"/>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先建立全貌。PCIe 的錯誤處理不是單一動作，而是四個環節串起來的：偵測、分類、回報、記錄。這四個環節在驗證上各自都是獨立的檢查點，你注入一個錯誤之後，要一路追下去確認每一環都做對了。偵測是在某一層發現異常，可能是 CRC 對不上、封包格式違規、或是等回覆等到逾時。分類是判斷這個錯誤有多嚴重，決定要怎麼處理。回報是用 Error Message 這種特殊的 TLP 往上送給 RC，讓軟體知道。記錄則是把狀態跟出問題的封包表頭存進暫存器，讓事後能分析。要注意的是規格上有兩套機制並存：Baseline 是所有裝置都必須有的，只提供最基本的狀態位元；AER 是選配的擴展能力，它會多記錄很多東西，包括出錯封包的 Header。實務上有做 AER 的裝置除錯容易非常多。最後那行是這一章的驗證主軸，後面每一種錯誤都可以照這個流程去設計測試。</a:t>
            </a:r>
          </a:p>
        </p:txBody>
      </p:sp>
      <p:sp>
        <p:nvSpPr>
          <p:cNvPr id="4" name="Slide Number Placeholder 3"/>
          <p:cNvSpPr>
            <a:spLocks noGrp="1"/>
          </p:cNvSpPr>
          <p:nvPr>
            <p:ph type="sldNum" idx="69"/>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三種嚴重性要分清楚，因為它們的處理方式完全不同。Correctable 是硬體自己就能收拾的，資料沒有損失，軟體甚至不需要知道 —— 例如 CRC 檢查失敗，重傳一次就好了。但重點來了：雖然可修正，錯誤計數還是會被記下來，因為如果這種錯誤頻繁發生，代表訊號品質正在惡化，那是一個很有價值的預警訊號。Uncorrectable Non-Fatal 是這筆交易救不回來了，但鏈路本身還是好的，其他交易可以照常進行 —— 例如你去讀一個不存在的位址，收到 UR，這筆讀取失敗了，但不影響別的。Uncorrectable Fatal 就嚴重了，代表鏈路本身已經不可信，繼續用下去可能造成資料損毀 —— 例如收到格式違規的封包，那表示對面的行為已經超出協定範圍，你不知道還會發生什麼。最後那行對驗證很重要：這個分類不是寫死的，軟體可以透過 AER 的 Severity 暫存器去改寫某些錯誤的嚴重性。所以你的測試要涵蓋「改寫後行為是否跟著變」這個情境。</a:t>
            </a:r>
          </a:p>
        </p:txBody>
      </p:sp>
      <p:sp>
        <p:nvSpPr>
          <p:cNvPr id="4" name="Slide Number Placeholder 3"/>
          <p:cNvSpPr>
            <a:spLocks noGrp="1"/>
          </p:cNvSpPr>
          <p:nvPr>
            <p:ph type="sldNum" idx="69"/>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Malformed TLP 是封包本身違反協定規則，接收端根本不能信任它。這一頁列的判定條件，我建議直接抄成測試項目清單，因為每一條都是一個獨立的注入點。Length 欄位跟實際 payload 對不上，這是最基本的。payload 超過對方宣告的 Max_Payload_Size，或讀取請求超過 Max_Read_Request_Size，這兩個要注意是「對方設定的值」，所以測試時要先改設定再送封包。資料跨越 4KB 邊界這條很容易被忽略 —— PCIe 規定一個封包不能跨 4KB，因為位址轉譯是以頁為單位的。Fmt/Type 用保留值、BE 違反規則、TD 位元跟實際有沒有 ECRC 不一致，這些都是。處理方式是判 Fatal、封包直接丟棄、而且不回 Completion —— 這點對驗證很重要：如果你送了一個 Malformed 的讀取請求，你不會收到任何回覆，只會在對方的錯誤暫存器裡看到記錄，然後自己這邊等到 Completion Timeout。這個雙重效應要一起檢查。</a:t>
            </a:r>
          </a:p>
        </p:txBody>
      </p:sp>
      <p:sp>
        <p:nvSpPr>
          <p:cNvPr id="4" name="Slide Number Placeholder 3"/>
          <p:cNvSpPr>
            <a:spLocks noGrp="1"/>
          </p:cNvSpPr>
          <p:nvPr>
            <p:ph type="sldNum" idx="69"/>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UR 跟 CA 都是完成方的拒絕，但理由不同，在除錯上指向的問題也不同。UR 是「我不認得這個請求」—— 可能是位址不落在任何 BAR 範圍內、可能是請求類型不支援、也可能是路由根本找不到目標裝置。實務上你在錯誤日誌裡看到 UR，第一個要懷疑的就是位址配置錯了，或是裝置沒有正確初始化。CA 則是「我認得，但我現在做不到」—— 請求本身完全合法，只是完成方內部的狀態不允許，例如存取到被鎖定或已停用的資源。兩者都是透過 Completion 的 Status 欄位回報，都算 Non-Fatal。這頁最後特別提 CRS，因為它很容易被誤當成錯誤：CRS 的意思是「我還沒準備好，請稍後再試」，只用在配置請求上，發起端應該要重試，而不是當成失敗。第一部分講初始化時序時提過，裝置剛上電還在自我初始化的時候，就是靠 CRS 讓 Host 稍等。驗證上要確認你的 DUT 在該回 CRS 的時候回 CRS，而不是回 UR 或直接不回。</a:t>
            </a:r>
          </a:p>
        </p:txBody>
      </p:sp>
      <p:sp>
        <p:nvSpPr>
          <p:cNvPr id="4" name="Slide Number Placeholder 3"/>
          <p:cNvSpPr>
            <a:spLocks noGrp="1"/>
          </p:cNvSpPr>
          <p:nvPr>
            <p:ph type="sldNum" idx="69"/>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Completion Timeout 是 Non-Posted 請求送出去之後，等不到回覆。這個逾時的長度是可程式化的，設定在 Device Control 2 暫存器裡，規格定義了四個範圍讓裝置選，從最短的 50 微秒到最長的 64 秒都有。為什麼要跨這麼大？因為不同的應用場景差很多 —— 本地的記憶體讀取幾微秒就該回來，但如果中間隔了好幾層 Switch 或是跨機箱的纜線，就需要寬鬆很多。裝置可以宣告自己支援哪些範圍，甚至可以整個停用逾時偵測。逾時之後的處理是判 Non-Fatal 並記錄。但下面那一行才是驗證的重點：那個 Tag 必須被釋放回收。想一下為什麼 —— 如果每次逾時都漏掉一個 Tag 沒回收，跑久了 Tag 就用完了，裝置會完全發不出新的 Non-Posted 請求，然後整個卡死。這是實務上非常常見的實作缺陷，而且症狀是「跑幾個小時之後才掛」，很難查。所以逾時測試一定要跑長時間、反覆觸發，然後檢查 Tag 有沒有洩漏。邊界值也要測：剛好在期限內回、跟剛好超過一點點，這兩個情境的行為必須明確。</a:t>
            </a:r>
          </a:p>
        </p:txBody>
      </p:sp>
      <p:sp>
        <p:nvSpPr>
          <p:cNvPr id="4" name="Slide Number Placeholder 3"/>
          <p:cNvSpPr>
            <a:spLocks noGrp="1"/>
          </p:cNvSpPr>
          <p:nvPr>
            <p:ph type="sldNum" idx="69"/>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錯誤發生之後怎麼讓軟體知道？靠三種 Error Message，它們用的是我們第一部分講過的隱式路由，直接往 RC 送，不需要指定位址。三種對應三種嚴重性。要注意的是「會不會送」是受控制的 —— Device Control 暫存器裡有錯誤回報的開關，關掉的話就算偵測到錯誤也不會送訊息出去。這在驗證上是一組必測的組合：開關開跟關，行為要不同。AER 的結構這裡列了主要的幾組。Status 記錄發生了什麼、Mask 控制要不要回報、Severity 可以改寫嚴重性分類。最有價值的是 Header Log，它會把出錯那個封包的表頭原封不動存下來，最多四個 DW —— 除錯的時候這個欄位幾乎是唯一能讓你知道「到底是哪個封包出問題」的線索，一定要驗它有沒有正確記錄。Root Port 還多了 Error Source ID，可以知道錯誤是從哪個裝置來的。最後那行的 Mask 行為很容易搞錯，特別強調：被遮蔽的錯誤，Status 位元還是會被設起來，只是不送訊息、也不記錄 Header。所以軟體用輪詢的方式還是看得到，只是不會被中斷打擾。這個細節值得寫一個專門的測試。</a:t>
            </a:r>
          </a:p>
        </p:txBody>
      </p:sp>
      <p:sp>
        <p:nvSpPr>
          <p:cNvPr id="4" name="Slide Number Placeholder 3"/>
          <p:cNvSpPr>
            <a:spLocks noGrp="1"/>
          </p:cNvSpPr>
          <p:nvPr>
            <p:ph type="sldNum" idx="69"/>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這頁把整章收斂成可以直接動手的測試項目，分成三面。注入面是你要怎麼製造錯誤：Malformed 的每一種條件都各寫一個案例，三種 CRC 各自做位元翻轉，EP 位元要在不同的 TLP 類型上都試過，還有刻意不回 Completion 來觸發逾時。檢查面是你要驗什麼：分類對不對、訊息有沒有送、Status 跟 Header Log 記錄對不對、Mask 的行為對不對。這裡要注意檢查的是一整串行為，不是單一個位元。第三面資源面最容易被漏掉，但它是最容易在客戶端爆炸的：錯誤發生之後，Tag 有沒有回收、credit 有沒有還回去、replay buffer 有沒有清乾淨。這些在單次測試裡看不出來，一定要長時間反覆注入才會浮現。我的建議是把資源面做成一個獨立的 stress 測試，跑幾十萬次錯誤注入，然後檢查資源計數有沒有回到初始值。這種測試抓到的 bug 通常都是最貴的那種。</a:t>
            </a:r>
          </a:p>
        </p:txBody>
      </p:sp>
      <p:sp>
        <p:nvSpPr>
          <p:cNvPr id="4" name="Slide Number Placeholder 3"/>
          <p:cNvSpPr>
            <a:spLocks noGrp="1"/>
          </p:cNvSpPr>
          <p:nvPr>
            <p:ph type="sldNum" idx="69"/>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這頁把重傳這一章收斂成測試項目，分三組。序號那一組最重要的就是回繞 —— 你的測試序列必須真的跨越 4095 到 0 這個點，而且要在跨越前後都有封包在飛，才驗得到比較邏輯有沒有用模數運算。序號不連續要回 Nak、未確認數量達門檻要停止取用新封包，這兩個也要驗。計時器那一組，兩個計時器的邊界值都要測，還有那個競態情境 —— Ack 剛好在逾時的瞬間抵達，看會不會出現既重傳又收到 Ack 的狀況。另外要確認 REPLAY_TIMER 在收到 Ack 或 Nak 時有正確重置，沒重置的話會提早逾時。第三組是重傳與回退：收到 Nak 要整批重送不是只補一個；連續失敗觸發 rollover 要確實進 Recovery；重訓之後三樣東西都要重新初始化；還有注入不合法的 Ack 序號應該判 Fatal。這幾項裡面，回繞跟 rollover 後的重新初始化是最容易出問題、也最值得優先做的。</a:t>
            </a:r>
          </a:p>
        </p:txBody>
      </p:sp>
      <p:sp>
        <p:nvSpPr>
          <p:cNvPr id="4" name="Slide Number Placeholder 3"/>
          <p:cNvSpPr>
            <a:spLocks noGrp="1"/>
          </p:cNvSpPr>
          <p:nvPr>
            <p:ph type="sldNum" idx="69"/>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credit 不是只有一個數字，它分成六組獨立計算的額度。先依事務類型分三類：Posted、Non-Posted、Completion。每一類再分 Header 跟 Data 兩種 —— 因為 Header 佔的是接收端的表頭佇列，Data 佔的是資料緩衝區，這是兩種不同的資源。所以總共六組：PH、PD、NPH、NPD、CPLH、CPLD。為什麼要分這麼細？關鍵在死結避免。想像一下如果所有類型共用一組 credit：Completion 因為某個原因塞住了，額度用光，結果連 Posted 寫入也送不出去，而那個 Posted 寫入可能正是解開塞車的關鍵 —— 整個系統就鎖死了。分開計算就不會有這個問題，每一類的塞車只影響自己。這也是為什麼後面講排序規則的時候，會有「Posted 必須能超越 Non-Posted」這種強制規定，兩者是同一個設計思路。驗證上這六組要分別驗，而且要特別測「把其中一類的 credit 耗盡，確認其他類還能正常運作」—— 這個測試直接驗證了死結避免機制有沒有做對。</a:t>
            </a:r>
          </a:p>
        </p:txBody>
      </p:sp>
      <p:sp>
        <p:nvSpPr>
          <p:cNvPr id="4" name="Slide Number Placeholder 3"/>
          <p:cNvSpPr>
            <a:spLocks noGrp="1"/>
          </p:cNvSpPr>
          <p:nvPr>
            <p:ph type="sldNum" idx="69"/>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單位這件事很容易算錯。Header credit 很單純，一個單位就是一個表頭。Data credit 一個單位是 4 個 DW，也就是 16 個位元組。這裡有個實務上的重點：不足 4 DW 也要算一個單位。所以如果你一直送 1 DW 的小封包，每一個都吃掉一整個 credit 單位，額度消耗會比你直覺想的快很多 —— 這是效能分析時的一個常見盲點。infinite credit 是個特殊機制：初始化的時候如果宣告為 0，意思不是「沒有額度」而是「無限額度」。最常見的用途是 Root Complex 對 Completion 宣告無限，因為 RC 的緩衝區通常很大，不需要限制。但要注意一旦宣告無限，之後就不會再送這個類型的 UpdateFC 了，你的 checker 不能因為沒收到 UpdateFC 就判定異常。最後是計數的寬度：Header 8 位元、Data 12 位元，而且累計值是模數運算的，會回繞。這代表比較大小的時候必須用模數比較，不能直接用大於小於 —— 這是一個非常經典的實作 bug，回繞的那一刻發送方會誤以為額度不足而卡住。驗證一定要專門測回繞邊界。</a:t>
            </a:r>
          </a:p>
        </p:txBody>
      </p:sp>
      <p:sp>
        <p:nvSpPr>
          <p:cNvPr id="4" name="Slide Number Placeholder 3"/>
          <p:cNvSpPr>
            <a:spLocks noGrp="1"/>
          </p:cNvSpPr>
          <p:nvPr>
            <p:ph type="sldNum" idx="69"/>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FC 初始化發生在鏈路進了 L0 之後、但還不能傳 TLP 的時候 —— 這是一個很多人會忽略的空窗期。資料鏈結層的狀態從 DL_Inactive 走到 DL_Init，做完 FC 初始化才進 DL_Active。流程分兩個階段：FC_INIT1 階段，雙方各自送出三種 InitFC1 DLLP，分別對應 P、NP、Cpl，而且要重複送，直到收到對方的全部三種為止。注意送出的順序規格有規定，必須是 P、NP、Cpl。第二階段 FC_INIT2 是確認，雙方再送三種 InitFC2，確認彼此都已就緒。這一整套完成之後才進 DL_Active，才可以開始傳 TLP。驗證上這裡有幾個很好的測試點：第一，在初始化還沒完成的時候硬送一個 TLP 過去，對方應該判為錯誤而不是照單全收；第二，故意讓一方遲遲不回應，看另一方會不會無限等待或是有適當的處理；第三，在初始化進行到一半的時候讓 link down，然後看重新建立時會不會乾淨地重來一遍 —— 這個情境很容易殘留舊狀態。還有 VC0 一定要初始化，其他 VC 則看有沒有啟用。</a:t>
            </a:r>
          </a:p>
        </p:txBody>
      </p:sp>
      <p:sp>
        <p:nvSpPr>
          <p:cNvPr id="4" name="Slide Number Placeholder 3"/>
          <p:cNvSpPr>
            <a:spLocks noGrp="1"/>
          </p:cNvSpPr>
          <p:nvPr>
            <p:ph type="sldNum" idx="69"/>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credit 用掉之後怎麼還回來？接收端處理完封包、緩衝區釋放了，就送一個 UpdateFC DLLP 通知對方。這裡有一個設計上的巧思要特別講：UpdateFC 送的是「累計已釋放的總額」，不是「這次釋放了多少」。為什麼？因為 DLLP 是不重傳的，掉了就掉了。如果送的是增量，掉一個就永遠少一筆，額度會慢慢流失直到卡死。送累計值的話，就算中途掉了一個，下一個 UpdateFC 就把正確的總額補回來了，系統自己會恢復。這是很漂亮的容錯設計。發送端的判斷邏輯是比較「我已經消耗的累計」跟「對方已釋放的累計」，差額不超過額度上限就可以送。再次強調這個比較必須用模數運算，因為數值會回繞。UpdateFC 除了緩衝區釋放時送，規格還規定了最長間隔，即使沒有變化也要定期送 —— 這是為了避免對方一直等不到更新。驗證上最有價值的兩個測試：一是故意讓一個 UpdateFC 掉包，確認系統能自行恢復，這直接驗證了累計值設計的容錯能力；二是把額度耗盡，確認發送端真的會停下來而不是硬送 —— 硬送的話對方緩衝區會溢位，那是災難級的錯誤。</a:t>
            </a:r>
          </a:p>
        </p:txBody>
      </p:sp>
      <p:sp>
        <p:nvSpPr>
          <p:cNvPr id="4" name="Slide Number Placeholder 3"/>
          <p:cNvSpPr>
            <a:spLocks noGrp="1"/>
          </p:cNvSpPr>
          <p:nvPr>
            <p:ph type="sldNum" idx="69"/>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這頁把流控收斂成測試項目。初始化的部分要驗順序、驗重複送出的行為、還有一個很容易漏的：鏈路重訓之後 credit 必須完整重新初始化，不能沿用舊的數值。帳目的部分，六組 credit 要分別耗盡來測試彼此不阻塞，這是死結避免的直接驗證。回繞邊界一定要測，那是最經典的 bug 位置。小封包的額度計算也要專門測，因為很多實作會算成實際位元組數而不是進位到一個單位。infinite credit 宣告之後的行為也要涵蓋。例外的部分，掉包恢復跟額度不足停止送出這兩個前一頁講過了。最後那個洩漏偵測我特別建議做成獨立的長時間測試：跑大量流量之後，把所有 credit 計數讀出來，應該要回到初始值。如果沒回到，代表有 credit 被吃掉沒還，跑更久就會卡死。這種 bug 在短測試裡完全看不出來。</a:t>
            </a:r>
          </a:p>
        </p:txBody>
      </p:sp>
      <p:sp>
        <p:nvSpPr>
          <p:cNvPr id="4" name="Slide Number Placeholder 3"/>
          <p:cNvSpPr>
            <a:spLocks noGrp="1"/>
          </p:cNvSpPr>
          <p:nvPr>
            <p:ph type="sldNum" idx="69"/>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第三章講重傳。第一部分講過 Ack/Nak 的概念 —— 收到就回 Ack、收壞了回 Nak、發送方從 replay buffer 重送。概念很簡單，但驗證要的是計時器的數值、觸發的邊界、以及重傳失敗之後會發生什麼。這一章會把兩個關鍵計時器講清楚，還有序號回繞這個經典的 bug 溫床。內容對應 spec 的 3.5 到 3.6 節。</a:t>
            </a:r>
          </a:p>
        </p:txBody>
      </p:sp>
      <p:sp>
        <p:nvSpPr>
          <p:cNvPr id="4" name="Slide Number Placeholder 3"/>
          <p:cNvSpPr>
            <a:spLocks noGrp="1"/>
          </p:cNvSpPr>
          <p:nvPr>
            <p:ph type="sldNum" idx="69"/>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序號是 12 位元，範圍 0 到 4095，會回繞 —— 記住這個數字，它是這一章所有 bug 的源頭。發送端要維護兩個變數：NEXT_TRANSMIT_SEQ 是下一個要送的序號，ACKD_SEQ 是對方已經確認的最大序號。replay buffer 保存的是這兩者之間、也就是「已送出但還沒被確認」的所有封包副本。這裡有個機制叫流量閘門：當未確認的封包累積太多，發送端必須停止從事務層拿新封包 —— 因為 replay buffer 有限，而且序號空間只有 4096，如果放任累積到超過一半，回繞之後就無法分辨新舊了。規格定的條件是兩者差距達到 2048 就要停。接收端維護 NEXT_RCV_SEQ，收到的序號如果跟期待的不連續，就判 Bad TLP 回 Nak。整頁最重要的一句在最後：所有涉及序號的比較邏輯，在 4095 跳回 0 的那一刻都必須正確。這是我看過最常出錯的地方，而且症狀很惡劣 —— 系統跑了幾分鐘、傳了幾千個封包之後才突然卡死或誤判，重現困難。驗證一定要專門設計會跨越回繞點的測試序列。</a:t>
            </a:r>
          </a:p>
        </p:txBody>
      </p:sp>
      <p:sp>
        <p:nvSpPr>
          <p:cNvPr id="4" name="Slide Number Placeholder 3"/>
          <p:cNvSpPr>
            <a:spLocks noGrp="1"/>
          </p:cNvSpPr>
          <p:nvPr>
            <p:ph type="sldNum" idx="69"/>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兩個計時器，一個在接收端一個在發送端，它們是一對，必須搭配得當。ACKNAK_LATENCY_TIMER 在接收端：收到 TLP 之後，最遲要在這個時間內把 Ack 送出去。為什麼要有上限？因為發送端的 replay buffer 要等 Ack 才能釋放，接收端拖太久，發送端的緩衝區就滿了，流量就停了。所以這個計時器的目的是保證 buffer 能及時周轉。它的數值不是固定的，取決於鏈路寬度、速率跟 Max_Payload_Size，規格裡有表格。REPLAY_TIMER 在發送端：送出去之後開始計時，逾時還沒收到 Ack 就重送整個 replay buffer 裡的內容。這裡有個關鍵的相依性：REPLAY_TIMER 必須大於 ACKNAK_LATENCY_TIMER，不然對方明明還在規定時間內、正準備回 Ack，你這邊已經重傳了，白白浪費頻寬。設定的取捨很直觀：太短會無謂重傳，太長則錯誤恢復變慢。驗證上最有價值的測試是邊界情境 —— 讓 Ack 剛好在逾時的那一瞬間抵達，看實作會不會出現既重傳又收到 Ack 的競態狀況。這種競態在真實硬體上偶爾才會發生一次，但一發生就可能造成狀態機錯亂。</a:t>
            </a:r>
          </a:p>
        </p:txBody>
      </p:sp>
      <p:sp>
        <p:nvSpPr>
          <p:cNvPr id="4" name="Slide Number Placeholder 3"/>
          <p:cNvSpPr>
            <a:spLocks noGrp="1"/>
          </p:cNvSpPr>
          <p:nvPr>
            <p:ph type="sldNum" idx="69"/>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重傳不是無限次的，這點很多人不知道。每一次因為逾時或收到 Nak 而重傳，REPLAY_NUM 這個計數就加一；成功收到 Ack 就歸零。當它連續累積到第四次，也就是經過三次 rollover 之後，硬體就判定「這條鏈路有問題，重傳解決不了」。這個設計的邏輯很務實：如果同一批封包重送了四次還是不成功，那問題八成不在單一封包，而是鏈路本身的訊號品質出了狀況 —— 與其繼續重傳浪費時間，不如整條鏈路重新訓練一次，說不定重新做一次等化就好了。觸發之後會記錄 REPLAY_NUM_ROLLOVER，這算 Correctable 錯誤，然後要求 LTSSM 進入 Recovery 重訓。重訓完成之後有個關鍵動作：credit 跟序號都必須重新初始化，這正好呼應前一章講的 FC 初始化。驗證上這裡是一個很完整的情境測試 —— 連續注入錯誤直到觸發 rollover，然後追蹤整條鏈：有沒有真的進 Recovery、重訓後 replay buffer 有沒有清空、序號有沒有歸零、credit 有沒有重新交換。這一串裡面任何一個環節沒做乾淨，後面就會出現非常詭異的行為。第三次跟第四次之間的邊界也要專門測。</a:t>
            </a:r>
          </a:p>
        </p:txBody>
      </p:sp>
      <p:sp>
        <p:nvSpPr>
          <p:cNvPr id="4" name="Slide Number Placeholder 3"/>
          <p:cNvSpPr>
            <a:spLocks noGrp="1"/>
          </p:cNvSpPr>
          <p:nvPr>
            <p:ph type="sldNum" idx="69"/>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這頁講 DLLP 相關的錯誤處理。第一部分講過 DLLP 沒有序號也不重傳，這裡解釋為什麼可以這樣設計 —— 因為每一種 DLLP 掉了都有補救機制：Ack 掉了，發送端的 REPLAY_TIMER 會逾時然後重傳，雖然多花點時間但不會卡死；UpdateFC 掉了，因為送的是累計值，下一個就補正了。所以 DLLP 的 CRC 檢查失敗就直接丟棄，記錄一個 Bad DLLP 就好。收到 Nak 的處理有個容易搞錯的點：是從 Nak 指定的序號之後開始，把 replay buffer 裡「所有」的 TLP 整批重送，不是只重送出錯的那一個。為什麼？因為 PCIe 要保證順序，如果只補送中間那一個，順序就亂了。最後這個 Data Link Protocol Error 值得注意：如果收到的 Ack 確認了一個你從來沒送出去的序號，那代表對方的狀態機已經錯亂了，這種情況直接判 Fatal，因為你已經無法信任這條鏈路上的任何東西。驗證上這兩個測試都很有價值：Ack 掉包應該要能靠計時器自己恢復；注入不合法的 Ack 序號應該要判 Fatal，而不是默默忽略掉 —— 後者是很常見的實作偷懶。</a:t>
            </a:r>
          </a:p>
        </p:txBody>
      </p:sp>
      <p:sp>
        <p:nvSpPr>
          <p:cNvPr id="4" name="Slide Number Placeholder 3"/>
          <p:cNvSpPr>
            <a:spLocks noGrp="1"/>
          </p:cNvSpPr>
          <p:nvPr>
            <p:ph type="sldNum" idx="69"/>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第四章講排序。這一章的內容看起來抽象，但它是 PCIe 裡少數「規則違反了不會立刻報錯、但會造成資料不一致」的機制 —— 也就是最難查的那一種 bug。排序規則存在的理由有兩個：一是保證軟體看到的結果符合預期，二是避免死結。這兩個理由對應到規則表裡不同的欄位，一種是「不可以超越」的限制，一種是「必須能超越」的強制要求。理解這個區別，整張表就好記多了。內容對應 spec 的 2.4 節。</a:t>
            </a:r>
          </a:p>
        </p:txBody>
      </p:sp>
      <p:sp>
        <p:nvSpPr>
          <p:cNvPr id="4" name="Slide Number Placeholder 3"/>
          <p:cNvSpPr>
            <a:spLocks noGrp="1"/>
          </p:cNvSpPr>
          <p:nvPr>
            <p:ph type="sldNum" idx="69"/>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排序規則存在的理由有兩個，而且性質完全不同，這一頁把它們分開講。第一個理由是保證軟體看到的結果符合預期。最經典的情境是這樣：你先把一批資料寫到記憶體，然後再寫一個旗標說「資料好了」。如果這兩個寫入被重新排序，旗標先到了，接收方看到旗標就去讀資料，結果讀到的是舊的 —— 這種 bug 極難查，因為它偶爾才發生，而且沒有任何錯誤被回報。所以規則是 Posted 不能超越 Posted。第二個理由是避免死結。想像 Posted 被卡在一個 Non-Posted 後面，而那個 Non-Posted 正在等一個必須先完成的 Posted 才能被處理 —— 兩邊互相等待，整個鎖死。所以規格強制規定 Posted 必須「能夠」超越 Non-Posted 跟 Completion。請注意這兩種規則的性質差別很大：「不能超越」是限制，你多做了會造成資料錯誤；「必須能超越」是強制要求，你沒做到會造成死結。驗證的時候這兩類要用不同的方法測 —— 前者是檢查有沒有發生不該發生的重排，後者是刻意製造壅塞情境看會不會鎖死。</a:t>
            </a:r>
          </a:p>
        </p:txBody>
      </p:sp>
      <p:sp>
        <p:nvSpPr>
          <p:cNvPr id="4" name="Slide Number Placeholder 3"/>
          <p:cNvSpPr>
            <a:spLocks noGrp="1"/>
          </p:cNvSpPr>
          <p:nvPr>
            <p:ph type="sldNum" idx="69"/>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這頁是排序規則的核心條目，我按照「性質」分成三組，比死背原始表格好記。第一組是必須維持順序的：Posted 不可超越 Posted，這是資料一致性的基礎；Non-Posted 不可超越 Posted；Completion 不可超越 Posted，但這一條有個例外，如果 Relaxed Ordering 位元設起來就可以；相同 TC 的 Completion 之間不可重排 —— 注意是「相同 TC」，不同 TC 之間沒有保證。第二組是必須允許超越的，這三條全部都是為了避免死結，前一頁解釋過原理。第三組是實作可以自己決定的，主要是 Non-Posted 之間的順序，還有跨 TC 的 Completion。這一組在驗證上要注意：因為規格允許兩種做法，你的 checker 不能寫死成其中一種，要看 DUT 的設計文件怎麼定義。完整的交叉表在 spec 的 2.4.1 節，Table 2-34，那張表建議印出來貼在桌上 —— 寫排序 checker 的時候會一直查。我這裡列的是最常用到的條目，實際寫 assertion 的時候還是要對照原始表格逐格確認。</a:t>
            </a:r>
          </a:p>
        </p:txBody>
      </p:sp>
      <p:sp>
        <p:nvSpPr>
          <p:cNvPr id="4" name="Slide Number Placeholder 3"/>
          <p:cNvSpPr>
            <a:spLocks noGrp="1"/>
          </p:cNvSpPr>
          <p:nvPr>
            <p:ph type="sldNum" idx="69"/>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這三個屬性位元都是「用正確性換效能」的機制，驗證的時候要特別小心，因為設錯了不會報錯，只會偶爾算出錯的答案。Relaxed Ordering 允許 Completion 超越先前的 Posted，適合大量資料搬移這種各筆之間沒有相依性的場景，但如果實際上有相依性，就會讀到舊資料。ID-Based Ordering 比較安全，它只放寬「不同來源之間」的順序，同一個來源發出的東西仍然維持順序 —— 因為相依性通常存在於同一個來源內部，這個設計等於在安全的前提下拿到大部分的效能好處。No Snoop 要注意它其實不是排序機制，是快取一致性的機制：設起來代表「不用去窺探 CPU 快取，直接讀主記憶體」，風險是 CPU 跟裝置看到不同版本的資料。驗證的重點在最後三行。第一，三個位元有八種組合，全部都要覆蓋，不能只測預設值。第二，要實際驗證行為有跟著變 —— RO 設 1 的時候真的允許重排、設 0 的時候真的不重排，光看位元有沒有傳過去是不夠的。第三，Switch 轉發的時候絕對不能竄改這三個位元，這是一個很值得專門寫測試的點，因為 Switch 的實作有時候會不小心把 Attr 洗掉。</a:t>
            </a:r>
          </a:p>
        </p:txBody>
      </p:sp>
      <p:sp>
        <p:nvSpPr>
          <p:cNvPr id="4" name="Slide Number Placeholder 3"/>
          <p:cNvSpPr>
            <a:spLocks noGrp="1"/>
          </p:cNvSpPr>
          <p:nvPr>
            <p:ph type="sldNum" idx="69"/>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排序的測試分三類。正向驗證是檢查「該維持的順序有沒有被打亂」—— 連續送多個 Posted 看抵達順序、混合 Posted 跟 Completion 看有沒有越位、相同 TC 的多筆 Completion 看有沒有被重排。這類測試的失敗症狀是資料錯誤。反向驗證是檢查「該允許的超越有沒有被擋住」，做法是刻意製造壅塞：讓 Non-Posted 塞住，然後看 Posted 還能不能過去。這類測試很重要但常被忽略，因為它的失敗症狀是「卡住」而不是「資料錯」，很多人不會想到要測。我建議把這類測試設計成有 timeout 的，卡住就直接失敗，不然測試會掛在那裡。第三類是屬性驗證，三個位元八種組合都要覆蓋，還要確認 Switch 轉發前後屬性沒被竄改。最後給一個實作建議：排序 checker 最好用 scoreboard 的方式做 —— 送出的時候記錄順序跟屬性，接收端逐筆比對。不要試圖用單純的 assertion 去表達排序規則，因為排序是跨多個封包的關係，assertion 寫起來會非常複雜而且容易漏。</a:t>
            </a:r>
          </a:p>
        </p:txBody>
      </p:sp>
      <p:sp>
        <p:nvSpPr>
          <p:cNvPr id="4" name="Slide Number Placeholder 3"/>
          <p:cNvSpPr>
            <a:spLocks noGrp="1"/>
          </p:cNvSpPr>
          <p:nvPr>
            <p:ph type="sldNum" idx="69"/>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第五章回到 LTSSM。第一部分講了 11 個主狀態，那個層級足夠理解流程，但驗證需要更深一層 —— 因為 link training 出問題的時候，症狀通常是「卡在某個子狀態」，而不是卡在主狀態。要能診斷，就得知道每個子狀態在等什麼、逾時多久、逾時之後往哪裡走。這一章會把四個訓練相關的主狀態展開成子狀態，再整理 timeout，最後講 Gen3 以上才有的 Equalization。內容對應 spec 的 4.2 節，那一節是整本規格裡最細的部分之一。</a:t>
            </a:r>
          </a:p>
        </p:txBody>
      </p:sp>
      <p:sp>
        <p:nvSpPr>
          <p:cNvPr id="4" name="Slide Number Placeholder 3"/>
          <p:cNvSpPr>
            <a:spLocks noGrp="1"/>
          </p:cNvSpPr>
          <p:nvPr>
            <p:ph type="sldNum" idx="69"/>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Detect 有兩個子狀態。Detect.Quiet 是靜默等待，發送端處於 Electrical Idle，速率固定在 2.5 GT/s。離開它的條件有兩個：等 12 毫秒逾時，或是偵測到任何一條 Lane 脫離 Electrical Idle —— 後者代表對面可能有東西在動了。Detect.Active 才是真正做偵測的地方，做法第一部分講過：對 D+ 和 D− 加電壓，量測充電曲線來判斷有沒有接收端的終端阻抗。結果有三種：全部 Lane 都偵測到，進 Polling；完全沒偵測到，退回 Detect.Quiet 繼續等；比較麻煩的是只偵測到部分 Lane，這時候會等一下再測一次，如果還是不一致，就用偵測到的那些 Lane 繼續下去 —— 這就是為什麼有些卡插在 x16 插槽卻只跑 x8，可能是某幾條 Lane 根本沒被偵測到。驗證重點在最後三行：沒有對端裝置的時候應該一直在 Detect 循環，絕對不能誤進 Polling；部分 Lane 存在時的降寬行為要正確；12 毫秒的逾時邊界要測。</a:t>
            </a:r>
          </a:p>
        </p:txBody>
      </p:sp>
      <p:sp>
        <p:nvSpPr>
          <p:cNvPr id="4" name="Slide Number Placeholder 3"/>
          <p:cNvSpPr>
            <a:spLocks noGrp="1"/>
          </p:cNvSpPr>
          <p:nvPr>
            <p:ph type="sldNum" idx="69"/>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Polling 有三個子狀態。Polling.Active 持續送 TS1 並等對方回應，收到足夠數量的 TS1 或 TS2 就往下走。注意「足夠數量」是有門檻的，規格規定要連續收到八個，這個數字在驗證時要精確 —— 收到七個不能算過。逾時是 24 毫秒，逾時之後通常回 Detect，但在特定條件下會進 Polling.Compliance。Polling.Configuration 是雙方改送 TS2，TS2 的意義是「我已經完成位元鎖定跟符號鎖定了」，所以這一步是互相確認就緒。逾時 48 毫秒，逾時就回 Detect。Polling.Compliance 是測試用的狀態，進去之後會送出 compliance pattern 給儀器量測訊號品質，正常運作時不應該進入。驗證上這裡有幾個重點：TS1 跟 TS2 的數量門檻要精確測、兩個逾時的邊界要測、還有一個很值得測的是「誤入 Compliance」—— 如果你的 DUT 在正常情境下跑進 Polling.Compliance，那對系統來說等於連不上線，而且症狀很難懂，因為訊號上明明有東西在跑。</a:t>
            </a:r>
          </a:p>
        </p:txBody>
      </p:sp>
      <p:sp>
        <p:nvSpPr>
          <p:cNvPr id="4" name="Slide Number Placeholder 3"/>
          <p:cNvSpPr>
            <a:spLocks noGrp="1"/>
          </p:cNvSpPr>
          <p:nvPr>
            <p:ph type="sldNum" idx="69"/>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Configuration 是子狀態最多的一個，有六個，依序協商鏈路的組成。Linkwidth.Start 由上游埠主導，決定要用哪些 Lane。Linkwidth.Accept 是下游埠接受或修改這個提議 —— 注意這是可以還價的，所以最終寬度是協商出來的結果，不是單方面決定。Lanenum.Wait 跟 Lanenum.Accept 處理 Lane 的編號，必要時在這裡做 Lane Reversal。Complete 是雙方送 TS2 確認。Idle 送出 Idle 資料，準備進 L0。全部完成之後進 L0，LinkUp 變成 1，這時候資料鏈結層才開始做 FC 初始化 —— 這就串回我們第二章講的內容了。多數子狀態的逾時是 24 毫秒，逾時就回 Detect 從頭來。驗證重點列了三個很實際的情境：第一是鏈路寬度降級，提議 x16 但實際只有 x8 可用，這個協商過程要正確；第二是 Lane Reversal 跟極性反轉的組合，這兩個可以同時發生，組合起來的情境很容易出錯；第三是協商進行到一半有 Lane 掉落，要能正確處理而不是卡死。</a:t>
            </a:r>
          </a:p>
        </p:txBody>
      </p:sp>
      <p:sp>
        <p:nvSpPr>
          <p:cNvPr id="4" name="Slide Number Placeholder 3"/>
          <p:cNvSpPr>
            <a:spLocks noGrp="1"/>
          </p:cNvSpPr>
          <p:nvPr>
            <p:ph type="sldNum" idx="69"/>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Recovery 是連上線之後的重新訓練，子狀態的設計反映了它要處理的幾種情境。Recovery.RcvrLock 是重新取得位元鎖定跟符號鎖定，用 TS1 交換，逾時 24 毫秒。Recovery.RcvrCfg 用 TS2 確認寬度、Lane 編號、以及要不要變更速率 —— 速率切換的意圖就是在這裡表達的。Recovery.Speed 是實際切換的地方：雙方進入 Electrical Idle，在靜默期間把速率改掉，然後回到 RcvrLock 重新鎖定。為什麼要先靜默？因為切換的瞬間訊號是亂的，不先協調好對方會以為出錯。Recovery.Equalization 是 Gen3 以上才有的，首次提速到 8 GT/s 以上要在這裡做等化。Recovery.Idle 就是一切就緒、回 L0。驗證上最重要的是速率切換的所有起訖組合 —— Gen1 到 Gen3、Gen3 降到 Gen1、Gen3 到 Gen4，每一種組合都要測，因為實作上常常只驗了升速沒驗降速。另一個重點是等化失敗的回退行為：如果等化談不成，應該要能退回較低的速率繼續運作，而不是整條鏈路掛掉。</a:t>
            </a:r>
          </a:p>
        </p:txBody>
      </p:sp>
      <p:sp>
        <p:nvSpPr>
          <p:cNvPr id="4" name="Slide Number Placeholder 3"/>
          <p:cNvSpPr>
            <a:spLocks noGrp="1"/>
          </p:cNvSpPr>
          <p:nvPr>
            <p:ph type="sldNum" idx="69"/>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等化分四個階段，方向是「輪流調整對方」。Phase 0 是下游埠取得上游埠給的初始發送設定，透過帶有 EQ 資訊的 TS2 傳遞。Phase 1 是雙方確認彼此都能以目標速率可靠接收 —— 這一步是建立調整的基礎，因為要調整就得先能通訊。Phase 2 是下游埠評估自己收到的訊號品質，然後要求上游埠調整發送係數；Phase 3 反過來，上游埠要求下游埠調整。為什麼要輪流？因為只有接收端才知道收到的訊號好不好，所以調整的要求一定是從接收方發給發送方。調整方式有兩種：指定 Preset 是從規格預定義的組合裡挑，粗調但快；直接指定係數比較精細，但耗時而且不保證收斂。驗證重點列三個：每個 Phase 的逾時跟失敗回退要驗，因為等化失敗是很常見的；係數超出合法範圍時應該要拒絕，這是一個很好的注入點；還有一個容易漏的 —— 等化的結果應該被保存下來，之後如果從 L1 醒來重進 L0，不需要重做完整的等化流程，只要用之前的結果就好。如果每次都重做，省電模式的喚醒延遲會爆掉。</a:t>
            </a:r>
          </a:p>
        </p:txBody>
      </p:sp>
      <p:sp>
        <p:nvSpPr>
          <p:cNvPr id="4" name="Slide Number Placeholder 3"/>
          <p:cNvSpPr>
            <a:spLocks noGrp="1"/>
          </p:cNvSpPr>
          <p:nvPr>
            <p:ph type="sldNum" idx="69"/>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這頁把常見的 timeout 整理成一張表，方便查閱。訓練階段的幾個數字建議記起來：Detect.Quiet 12 毫秒、Polling.Active 24 毫秒、Polling.Configuration 48 毫秒、Configuration 的子狀態多半是 24 毫秒、Recovery.RcvrLock 也是 24 毫秒。除了這些還有一些常被引用的時間，例如進入 L0s 之後的最短停留時間、N_FTS 也就是喚醒需要的 FTS 數量、L1 進入退出的協商時間。這裡有兩個注意事項一定要講：第一，不同版本的規格這些數值可能會微調，所以實作之前務必對照你的目標版本，不要照著舊筆記寫。第二，有些數值不是單一常數，會跟速率或 Lane 數相關，例如 N_FTS 就是這樣。驗證的原則很簡單但很重要：每一個 timeout 都要測「剛好之前」跟「剛好之後」兩個邊界。只測中間值是沒有意義的，因為 bug 幾乎都藏在邊界上 —— 差一個時脈週期的判斷錯誤，在中間值測試裡永遠看不出來。</a:t>
            </a:r>
          </a:p>
        </p:txBody>
      </p:sp>
      <p:sp>
        <p:nvSpPr>
          <p:cNvPr id="4" name="Slide Number Placeholder 3"/>
          <p:cNvSpPr>
            <a:spLocks noGrp="1"/>
          </p:cNvSpPr>
          <p:nvPr>
            <p:ph type="sldNum" idx="69"/>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LTSSM 的驗證分三個層面。第一是狀態涵蓋：所有主狀態跟子狀態都要被進入過，而且狀態轉移也要覆蓋 —— 包含失敗路徑的轉移，例如逾時退回 Detect 這種。這個做成 state coverage 跟 transition coverage 是最直接的產出，也是驗證計畫裡最容易量化的部分。第二是情境測試，列了四類：對端不存在或中途消失、寬度跟 Lane 相關的各種組合、速率升降的所有組合、還有訓練中途注入錯誤看能不能正確回退。第三個層面最容易被忽略但很重要：LTSSM 跟上層的介面。LinkUp 訊號的時序如果太早拉起，資料鏈結層會搶跑 —— 在鏈路還沒真正穩定的時候就開始送 DLLP，那會造成很難查的間歇性錯誤。進入 Recovery 的時候上層要正確暫停，重訓完成之後 credit 跟序號要重新初始化，這些跨層的握手都要驗。最後這句話是我的建議：如果時間有限，LTSSM 的 state 跟 transition coverage 是這一章投資報酬率最高的產出，因為它能系統性地告訴你哪些路徑從來沒被測過。</a:t>
            </a:r>
          </a:p>
        </p:txBody>
      </p:sp>
      <p:sp>
        <p:nvSpPr>
          <p:cNvPr id="4" name="Slide Number Placeholder 3"/>
          <p:cNvSpPr>
            <a:spLocks noGrp="1"/>
          </p:cNvSpPr>
          <p:nvPr>
            <p:ph type="sldNum" idx="69"/>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第六章講暫存器屬性。這一章看起來最不起眼，但它是 register test 的基礎，而 register test 通常是驗證專案裡最早跑起來、也最容易做到高涵蓋率的一塊。重點在於：PCIe 的每一個暫存器位元都有明確定義的存取屬性，而每一種屬性都對應一組特定的檢查方式。搞清楚屬性，register test 幾乎可以自動生成；沒搞清楚，就會寫出一堆假通過的測試。這一章的內容散落在 spec 第七章的各個暫存器定義裡。</a:t>
            </a:r>
          </a:p>
        </p:txBody>
      </p:sp>
      <p:sp>
        <p:nvSpPr>
          <p:cNvPr id="4" name="Slide Number Placeholder 3"/>
          <p:cNvSpPr>
            <a:spLocks noGrp="1"/>
          </p:cNvSpPr>
          <p:nvPr>
            <p:ph type="sldNum" idx="69"/>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這頁是屬性的清單，每一種都對應一組檢查方式。RO 是唯讀，檢查方式是寫入任意值之後讀回來應該維持原值 —— 注意要寫「任意值」，包含全 0 跟全 1，因為有些錯誤實作只擋了部分位元。RW 最單純，做走訪測試就好：全 0、全 1、交錯位元、隨機值。RW1C 是最需要小心的一種，寫 1 才會清除、寫 0 完全無效 —— PCIe 的狀態位元幾乎都是這一類。它的檢查要三段：寫 0 不應該清除、寫 1 應該清除、清除之後不應該自己又跳回來。第三點很重要，如果錯誤條件還在，位元可能會重新被設起來，那是正常的；但如果條件已經消失卻還會復位，那就是 bug。RsvdP 跟 RsvdZ 是兩種不同的保留欄位：RsvdP 要求軟體讀取後原樣寫回，用意是保留未來擴充的空間；RsvdZ 要求寫 0。HwInit 是硬體初始化之後就變唯讀，常見於從 strap 腳位或 EEPROM 載入的識別資訊。最後 Sticky 是重點，下一頁專門講。</a:t>
            </a:r>
          </a:p>
        </p:txBody>
      </p:sp>
      <p:sp>
        <p:nvSpPr>
          <p:cNvPr id="4" name="Slide Number Placeholder 3"/>
          <p:cNvSpPr>
            <a:spLocks noGrp="1"/>
          </p:cNvSpPr>
          <p:nvPr>
            <p:ph type="sldNum" idx="69"/>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Sticky 位元是一個很貼心的設計，但也是最常被實作錯的地方。它的意義是：Hot Reset、FLR、Warm Reset 這些都不會清除它，只有主電源真的移除了才會清。目的很明確 —— 保留錯誤紀錄。想像一下系統出了問題自動重開，如果重開就把錯誤紀錄清光了，你永遠查不出原因。有了 Sticky，重開之後還能讀到上一次到底發生什麼錯誤、出錯的封包表頭是什麼。典型的 Sticky 位元包括 AER 的錯誤狀態、Header Log、還有部分鏈路狀態。HwInit 有個驗證陷阱要注意：它在硬體初始化期間是可以被寫入的，初始化完成之後才變唯讀。所以你的測試時序要對，太早檢查唯讀性會得到錯誤的結論。驗證重點列了三條，第二條我特別標出來：Sticky 位元在 FLR 之後必須保留，這是我看過最常見的實作缺陷 —— 因為 FLR 的實作常常是「把這個 Function 的暫存器全部歸零」，一不小心就把 Sticky 也清掉了。這個 bug 在正常運作時完全看不出來，只有在需要事後分析的時候才發現紀錄不見了，非常可惜。</a:t>
            </a:r>
          </a:p>
        </p:txBody>
      </p:sp>
      <p:sp>
        <p:nvSpPr>
          <p:cNvPr id="4" name="Slide Number Placeholder 3"/>
          <p:cNvSpPr>
            <a:spLocks noGrp="1"/>
          </p:cNvSpPr>
          <p:nvPr>
            <p:ph type="sldNum" idx="69"/>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register test 的基本策略是由描述檔驅動、自動生成，不要為每個暫存器手寫測試。描述檔裡記錄每個欄位的位址、寬度、屬性、預設值，測試程式自動走訪整個空間。這樣做的好處是規格改了只要改描述檔，而且涵蓋率天然完整。必測項目有四類。第一是 Reset 值，所有暫存器讀出來的預設值要符合規格 —— 這個看似簡單但很容易出錯，特別是那些有多個欄位擠在一個 DW 裡的暫存器。第二是屬性行為，每個位元依照它的屬性去驗。第三是保留欄位的處理。第四是存取寬度：位元組、字組、雙字組的存取都要正確，這一項常被漏掉，但硬體實作上不同寬度的存取路徑可能不同。PCIe 特有的注意事項有三個：前 256 位元組跟擴展區的存取方式不同，測試要涵蓋兩種路徑；部分暫存器的行為跟裝置目前的 D state 有關，例如在 D3hot 的時候某些暫存器不可存取；還有 Capability 鏈結串列的走訪，要驗指標正確、不會形成環、而且以 0 結尾 —— 這個第一部分提過，實作上加迴圈上限防呆，驗證上就要專門測試異常的鏈結。</a:t>
            </a:r>
          </a:p>
        </p:txBody>
      </p:sp>
      <p:sp>
        <p:nvSpPr>
          <p:cNvPr id="4" name="Slide Number Placeholder 3"/>
          <p:cNvSpPr>
            <a:spLocks noGrp="1"/>
          </p:cNvSpPr>
          <p:nvPr>
            <p:ph type="sldNum" idx="69"/>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第七章講 compliance 跟測試模式。這一章的內容比較窄，但它回答一個實際的問題：你的裝置怎麼證明自己符合規格？PCI-SIG 有一整套認證流程，而規格本身也內建了幾個專門給測試用的模式 —— Polling.Compliance 跟 Loopback。理解這些模式對驗證有兩個價值：一是你要驗證這些模式本身有沒有正確實作，二是你可以利用這些模式來做訊號品質的測試。內容散落在 spec 第四章。</a:t>
            </a:r>
          </a:p>
        </p:txBody>
      </p:sp>
      <p:sp>
        <p:nvSpPr>
          <p:cNvPr id="4" name="Slide Number Placeholder 3"/>
          <p:cNvSpPr>
            <a:spLocks noGrp="1"/>
          </p:cNvSpPr>
          <p:nvPr>
            <p:ph type="sldNum" idx="69"/>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Polling.Compliance 是 LTSSM 裡專門給測試用的狀態。進去之後裝置會持續送出 compliance pattern，讓外部儀器量測訊號品質 —— 眼圖、抖動、電壓擺幅這些。每一種速率有各自定義的 pattern，因為不同速率要驗的東西不一樣。進入條件有兩種：一種是自動的，偵測到對端但無法完成 Polling 而且符合特定條件時會進去；另一種是軟體強制的，寫 Link Control 2 的 Enter Compliance 位元。實務上的意義要講清楚：這個狀態是給實驗室量測用的，正常運作時不應該進入。如果你的系統在正常情境下跑進 Compliance，那代表訓練出了問題 —— 而且症狀很難懂，因為線路上明明有訊號在跑，用示波器看起來很正常，但就是連不上線。驗證重點三條：兩條進入路徑都要測；各速率的 pattern 內容要正確，這個要對照規格逐位元檢查；還有離開 Compliance 之後要能正常回到訓練流程，不能卡在裡面出不來。</a:t>
            </a:r>
          </a:p>
        </p:txBody>
      </p:sp>
      <p:sp>
        <p:nvSpPr>
          <p:cNvPr id="4" name="Slide Number Placeholder 3"/>
          <p:cNvSpPr>
            <a:spLocks noGrp="1"/>
          </p:cNvSpPr>
          <p:nvPr>
            <p:ph type="sldNum" idx="69"/>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Loopback 的概念很單純：接收端把收到的訊號原樣送回去。發起的一方叫 Loopback Master，負責送出測試樣式並比對回來的結果；另一方叫 Loopback Slave，只負責原封不動回送。用途主要有兩個：量測位元錯誤率，也就是 BER；還有訊號完整性的除錯。它的價值在於不需要對端有完整功能 —— 只要能回送就好，所以在早期硬體 bring-up 的階段特別有用，那時候很多功能還沒好。進入方式是透過 TS1 裡的 Loopback 位元協商。有兩點要注意：Slave 端只做位元層級的回送，完全不解析封包內容，所以你送過去的東西不需要是合法的 TLP；還有離開 Loopback 需要明確的退出程序，不是直接停就好。驗證上 Master 跟 Slave 兩種角色都要驗，因為你的裝置可能兩種都要支援。各速率、各鏈路寬度下都要測。最後退出程序要驗乾淨 —— 這是常見的問題點，有些實作進得去出不來，或是出來之後狀態殘留導致後續訓練失敗。</a:t>
            </a:r>
          </a:p>
        </p:txBody>
      </p:sp>
      <p:sp>
        <p:nvSpPr>
          <p:cNvPr id="4" name="Slide Number Placeholder 3"/>
          <p:cNvSpPr>
            <a:spLocks noGrp="1"/>
          </p:cNvSpPr>
          <p:nvPr>
            <p:ph type="sldNum" idx="69"/>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PCI-SIG 的認證分三個面向：電氣測試量的是訊號品質，鏈路與協定測試驗的是訓練流程、狀態機、封包格式、錯誤處理，配置與軟體測試則是驗配置空間跟枚舉的相容性。常用的工具是 PCI-SIG 提供的測試套件跟 compliance test card，加上協定分析儀搭配自動化腳本。這一頁最重要的是最後那一段，我想特別強調：Compliance 是及格線，不是完整驗證。它的設計目的是「確保不同廠商的裝置能互通」，所以測的是最基本的相容性，涵蓋範圍相對保守。你內部的驗證必須涵蓋 compliance 沒碰到的東西 —— 特別是錯誤注入、資源洩漏、長時間 stress、還有你自己設計特有的邊界情境。我看過不少團隊把「通過 compliance」當成驗證完成的標準，結果產品出去之後在客戶端遇到一堆問題。實務上的建議是把 compliance 項目納入回歸測試，讓它每天跑，但驗證計畫的主體應該是你自己針對設計特性規劃的測試。</a:t>
            </a:r>
          </a:p>
        </p:txBody>
      </p:sp>
      <p:sp>
        <p:nvSpPr>
          <p:cNvPr id="4" name="Slide Number Placeholder 3"/>
          <p:cNvSpPr>
            <a:spLocks noGrp="1"/>
          </p:cNvSpPr>
          <p:nvPr>
            <p:ph type="sldNum" idx="69"/>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第八章講 Gen6 的 FLIT 模式。為什麼要單獨開一章？因為 FLIT 改變的不是某個欄位或某個參數，而是封包在鏈路上的組織方式本身。前面所有章節講的機制 —— 序號、LCRC、framing、重傳 —— 在 FLIT 模式下全部都變了。如果你要驗 Gen6 的東西，很多前面建立的假設要重新檢視。這一章不會講得很深，但會把「哪些東西變了」講清楚，讓你知道要重新確認哪些地方。</a:t>
            </a:r>
          </a:p>
        </p:txBody>
      </p:sp>
      <p:sp>
        <p:nvSpPr>
          <p:cNvPr id="4" name="Slide Number Placeholder 3"/>
          <p:cNvSpPr>
            <a:spLocks noGrp="1"/>
          </p:cNvSpPr>
          <p:nvPr>
            <p:ph type="sldNum" idx="69"/>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FLIT 是 Flow Control Unit 的縮寫，它是一個固定大小的傳輸單位，總長 256 位元組，裡面的切分是固定的：236 位元組放 TLP 資料、6 位元組放 DLLP、8 位元組是 CRC、6 位元組是 FEC。跟傳統模式最根本的差異在邊界的表示方式：傳統模式封包長度不定，所以需要 Start 跟 End 字元來標示從哪開始到哪結束；FLIT 長度固定，位置本身就是邊界，framing 字元完全不需要了。這一個改變就讓好幾個機制跟著變。首先，不再有每個 TLP 各自的序號跟 LCRC，改成每個 FLIT 有自己的序號跟 CRC —— 這代表重傳的單位從 TLP 變成 FLIT，一個 FLIT 裡可能包含好幾個 TLP，重傳的時候是整個 FLIT 一起重送。其次，DLLP 不再是獨立的封包，而是內嵌在 FLIT 的固定位置 —— 這代表流控更新是「搭便車」的，每個 FLIT 都可以順便帶。最後是新增的 FEC 前向糾錯，它能修正部分錯誤而不需要重傳，這對高速下的延遲很關鍵。</a:t>
            </a:r>
          </a:p>
        </p:txBody>
      </p:sp>
      <p:sp>
        <p:nvSpPr>
          <p:cNvPr id="4" name="Slide Number Placeholder 3"/>
          <p:cNvSpPr>
            <a:spLocks noGrp="1"/>
          </p:cNvSpPr>
          <p:nvPr>
            <p:ph type="sldNum" idx="69"/>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這頁講 FLIT 對驗證的實際影響，分三部分。第一部分是要重新檢視的假設，我列了四條，每一條都是前面章節建立起來、但在 FLIT 模式下不成立的認知。如果你的 checker 是照傳統模式寫的，這四條都會壞掉 —— 特別是序號相關的邏輯，因為序號的層級整個換了。第二部分是新的驗證面向：FLIT 打包的邏輯要驗，多個小 TLP 怎麼塞進同一個 FLIT、有沒有浪費空間；TLP 跨越 FLIT 邊界的處理要驗，因為一個大 TLP 可能要分好幾個 FLIT 裝；FEC 的糾錯能力邊界要驗，也就是幾個位元錯誤以內可以修正、超過就修不了；還有一個很有意思的交界行為 —— FEC 修正失敗之後才進入重傳，這個交界的時序跟狀態轉換要驗清楚。第三部分是兩種模式的共存：鏈路可以在傳統模式跟 FLIT 模式之間協商，所以模式切換的時機跟行為要專門驗證。實務上這個切換是很容易出問題的地方，因為兩種模式的資料路徑差很多。</a:t>
            </a:r>
          </a:p>
        </p:txBody>
      </p:sp>
      <p:sp>
        <p:nvSpPr>
          <p:cNvPr id="4" name="Slide Number Placeholder 3"/>
          <p:cNvSpPr>
            <a:spLocks noGrp="1"/>
          </p:cNvSpPr>
          <p:nvPr>
            <p:ph type="sldNum" idx="69"/>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最後一章講驗證規劃，把前面八章收斂成可以執行的計畫。這一章不講新的協定知識，而是回答「知道了這些之後，我該怎麼安排工作」。內容包括 coverage 該怎麼規劃、有哪些常見的陷阱要避開、以及一份 spec 章節對照表 —— 讓你之後查規格的時候知道該翻哪一章。</a:t>
            </a:r>
          </a:p>
        </p:txBody>
      </p:sp>
      <p:sp>
        <p:nvSpPr>
          <p:cNvPr id="4" name="Slide Number Placeholder 3"/>
          <p:cNvSpPr>
            <a:spLocks noGrp="1"/>
          </p:cNvSpPr>
          <p:nvPr>
            <p:ph type="sldNum" idx="69"/>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Coverage 規劃我分成三類。功能涵蓋率是最直覺的：TLP 類型、長度、屬性位元的交叉；四種路由方式跟三種結果的組合；六組 credit 的耗盡跟恢復；還有每一種錯誤類型至少要被觸發一次。這一類的重點是「交叉」，單獨測每個項目意義不大，要測組合。狀態涵蓋率是我認為投資報酬率最高的：LTSSM 的所有狀態跟轉移、D state 跟 L state 的所有合法組合。為什麼報酬率高？因為它能系統性地告訴你「哪些路徑從來沒被測過」，而那些沒被測過的路徑就是 bug 的溫床。邊界涵蓋率則是最容易被漏掉的：序號回繞、credit 回繞、Tag 用盡、每個 timeout 的前後邊界、還有 Max_Payload_Size 這些參數的邊界值。這一類的 bug 通常最難查，因為要跑很久或很特定的條件才會遇到。最後那句建議：如果你的時間有限，先把狀態涵蓋率做起來。功能涵蓋率通常隨機測試跑一跑就會上去，但狀態涵蓋率必須刻意去湊，而且它揭露的問題最有價值。</a:t>
            </a:r>
          </a:p>
        </p:txBody>
      </p:sp>
      <p:sp>
        <p:nvSpPr>
          <p:cNvPr id="4" name="Slide Number Placeholder 3"/>
          <p:cNvSpPr>
            <a:spLocks noGrp="1"/>
          </p:cNvSpPr>
          <p:nvPr>
            <p:ph type="sldNum" idx="69"/>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這頁列的是我認為最常見、也最貴的六個陷阱。第一個是只驗正常路徑 —— 錯誤處理的程式碼往往佔設計的一半以上，卻只分到少數測試，這個比例明顯不合理。第二個是只測中間值不測邊界，前面講過很多次了，幾乎所有計數跟計時的 bug 都藏在邊界。第三個是只跑短測試，資源洩漏這類問題需要長時間才會顯現，短測試永遠看不到。第四個是把 compliance 當成驗證完成的標準，前面第七章講過。第五個很微妙但很致命：checker 寫得比設計還樂觀 —— 例如只檢查「有沒有回應」而不檢查「回應內容對不對」，這種 checker 會給你虛假的安全感，測試全綠但其實什麼都沒驗到。我建議定期做一件事：故意在設計裡注入已知的 bug，看你的測試會不會抓到，抓不到就代表 checker 不夠嚴格。第六個是忽略跨層互動，例如 LinkUp 的時序、重訓後的重新初始化、錯誤發生時的資源回收，這些跨層的握手最容易在整合階段才爆出來。最後那句話是這六個陷阱的共通點：它們的症狀都是實驗室好好的、到客戶端才出事，而那時候修的代價已經高出好幾個數量級了。</a:t>
            </a:r>
          </a:p>
        </p:txBody>
      </p:sp>
      <p:sp>
        <p:nvSpPr>
          <p:cNvPr id="4" name="Slide Number Placeholder 3"/>
          <p:cNvSpPr>
            <a:spLocks noGrp="1"/>
          </p:cNvSpPr>
          <p:nvPr>
            <p:ph type="sldNum" idx="69"/>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最後這頁是章節對照表，建議大家存起來。PCIe 的規格書很厚，但結構其實很清楚，知道哪一章講什麼，查起來就快得多。第二章是事務層，2.2 到 2.3 是 TLP 格式跟欄位定義，2.4 是排序規則含那張完整的交叉表，2.6 是流量控制。第三章是資料鏈結層，3.5 到 3.6 講 DLLP、Ack/Nak 跟重傳。第四章是物理層，4.2 是邏輯子區塊，也就是 LTSSM 跟有序集所在的地方，那一節是整本規格最細的部分之一；4.3 是電氣子區塊。第五章電源管理、6.1 中斷、6.2 錯誤處理、6.6 Reset。第七章是配置空間跟所有能力結構的暫存器定義，做 register test 主要就是查這一章。最後給一個查規格的建議：每一章開頭都有 Overview，先看那個建立框架，再去深入條文。直接跳進條文很容易迷失，因為 PCIe 規格的條文之間交叉引用非常多。今天就講到這裡，這兩份簡報合起來大概能覆蓋 PCIe 驗證會遇到的主要面向，剩下的就是實際動手跟持續查規格了。謝謝大家。</a:t>
            </a:r>
          </a:p>
        </p:txBody>
      </p:sp>
      <p:sp>
        <p:nvSpPr>
          <p:cNvPr id="4" name="Slide Number Placeholder 3"/>
          <p:cNvSpPr>
            <a:spLocks noGrp="1"/>
          </p:cNvSpPr>
          <p:nvPr>
            <p:ph type="sldNum" idx="69"/>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題投影片">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3800" cy="43495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1EEB87A-709F-4BDA-A576-BEAA986BC518}" type="slidenum">
              <a:t>&lt;#&gt;</a:t>
            </a:fld>
          </a:p>
        </p:txBody>
      </p:sp>
      <p:sp>
        <p:nvSpPr>
          <p:cNvPr id="6" name="PlaceHolder 5"/>
          <p:cNvSpPr>
            <a:spLocks noGrp="1"/>
          </p:cNvSpPr>
          <p:nvPr>
            <p:ph type="dt" idx="3"/>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題投影片">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1C5CCE2-BB78-4FAC-A194-44B16826F4C6}" type="slidenum">
              <a:t>&lt;#&gt;</a:t>
            </a:fld>
          </a:p>
        </p:txBody>
      </p:sp>
      <p:sp>
        <p:nvSpPr>
          <p:cNvPr id="6" name="PlaceHolder 5"/>
          <p:cNvSpPr>
            <a:spLocks noGrp="1"/>
          </p:cNvSpPr>
          <p:nvPr>
            <p:ph type="dt" idx="3"/>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標題及直排文字">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6442D65-DDE9-4CC1-91FE-99D673BD2420}" type="slidenum">
              <a:t>&lt;#&gt;</a:t>
            </a:fld>
          </a:p>
        </p:txBody>
      </p:sp>
      <p:sp>
        <p:nvSpPr>
          <p:cNvPr id="4" name="PlaceHolder 3"/>
          <p:cNvSpPr>
            <a:spLocks noGrp="1"/>
          </p:cNvSpPr>
          <p:nvPr>
            <p:ph type="dt" idx="6"/>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直排標題及文字">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9394F166-FB97-448F-9A4D-A566F47E2D56}" type="slidenum">
              <a:t>&lt;#&gt;</a:t>
            </a:fld>
          </a:p>
        </p:txBody>
      </p:sp>
      <p:sp>
        <p:nvSpPr>
          <p:cNvPr id="4" name="PlaceHolder 3"/>
          <p:cNvSpPr>
            <a:spLocks noGrp="1"/>
          </p:cNvSpPr>
          <p:nvPr>
            <p:ph type="dt" idx="9"/>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題及內容">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7AD81F4-AFA8-40B5-94A9-E576F8765747}" type="slidenum">
              <a:t>&lt;#&gt;</a:t>
            </a:fld>
          </a:p>
        </p:txBody>
      </p:sp>
      <p:sp>
        <p:nvSpPr>
          <p:cNvPr id="6" name="PlaceHolder 5"/>
          <p:cNvSpPr>
            <a:spLocks noGrp="1"/>
          </p:cNvSpPr>
          <p:nvPr>
            <p:ph type="dt" idx="12"/>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章節標題">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517CBC0-CEC6-408C-BE5A-37332EA56A06}" type="slidenum">
              <a:t>&lt;#&gt;</a:t>
            </a:fld>
          </a:p>
        </p:txBody>
      </p:sp>
      <p:sp>
        <p:nvSpPr>
          <p:cNvPr id="4" name="PlaceHolder 3"/>
          <p:cNvSpPr>
            <a:spLocks noGrp="1"/>
          </p:cNvSpPr>
          <p:nvPr>
            <p:ph type="dt" idx="15"/>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兩個內容">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83808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3"/>
          <p:cNvSpPr>
            <a:spLocks noGrp="1"/>
          </p:cNvSpPr>
          <p:nvPr>
            <p:ph/>
          </p:nvPr>
        </p:nvSpPr>
        <p:spPr>
          <a:xfrm>
            <a:off x="622584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EAA854D6-1AAD-4FAB-8D67-241DCAFD4326}" type="slidenum">
              <a:t>&lt;#&gt;</a:t>
            </a:fld>
          </a:p>
        </p:txBody>
      </p:sp>
      <p:sp>
        <p:nvSpPr>
          <p:cNvPr id="7" name="PlaceHolder 6"/>
          <p:cNvSpPr>
            <a:spLocks noGrp="1"/>
          </p:cNvSpPr>
          <p:nvPr>
            <p:ph type="dt" idx="18"/>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較">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72825054-3846-44D6-9ED2-328D149AA66C}" type="slidenum">
              <a:t>&lt;#&gt;</a:t>
            </a:fld>
          </a:p>
        </p:txBody>
      </p:sp>
      <p:sp>
        <p:nvSpPr>
          <p:cNvPr id="4" name="PlaceHolder 3"/>
          <p:cNvSpPr>
            <a:spLocks noGrp="1"/>
          </p:cNvSpPr>
          <p:nvPr>
            <p:ph type="dt" idx="2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只有標題">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EC877726-267E-49DC-AD25-A60A2DE564B2}" type="slidenum">
              <a:t>&lt;#&gt;</a:t>
            </a:fld>
          </a:p>
        </p:txBody>
      </p:sp>
      <p:sp>
        <p:nvSpPr>
          <p:cNvPr id="5" name="PlaceHolder 4"/>
          <p:cNvSpPr>
            <a:spLocks noGrp="1"/>
          </p:cNvSpPr>
          <p:nvPr>
            <p:ph type="dt" idx="24"/>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61F15414-25BA-495B-9FE5-E0AFA9AE946E}" type="slidenum">
              <a:t>&lt;#&gt;</a:t>
            </a:fld>
          </a:p>
        </p:txBody>
      </p:sp>
      <p:sp>
        <p:nvSpPr>
          <p:cNvPr id="4" name="PlaceHolder 3"/>
          <p:cNvSpPr>
            <a:spLocks noGrp="1"/>
          </p:cNvSpPr>
          <p:nvPr>
            <p:ph type="dt" idx="27"/>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含輔助字幕的內容">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901EB281-7AAC-4DCF-A147-01F21BACE1C5}" type="slidenum">
              <a:t>&lt;#&gt;</a:t>
            </a:fld>
          </a:p>
        </p:txBody>
      </p:sp>
      <p:sp>
        <p:nvSpPr>
          <p:cNvPr id="4" name="PlaceHolder 3"/>
          <p:cNvSpPr>
            <a:spLocks noGrp="1"/>
          </p:cNvSpPr>
          <p:nvPr>
            <p:ph type="dt" idx="30"/>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含輔助字幕的圖片">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18950D23-F385-4492-8003-C7ECC04F69D1}" type="slidenum">
              <a:t>&lt;#&gt;</a:t>
            </a:fld>
          </a:p>
        </p:txBody>
      </p:sp>
      <p:sp>
        <p:nvSpPr>
          <p:cNvPr id="4" name="PlaceHolder 3"/>
          <p:cNvSpPr>
            <a:spLocks noGrp="1"/>
          </p:cNvSpPr>
          <p:nvPr>
            <p:ph type="dt" idx="33"/>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預設">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 name="PlaceHolder 2"/>
          <p:cNvSpPr>
            <a:spLocks noGrp="1"/>
          </p:cNvSpPr>
          <p:nvPr>
            <p:ph type="subTitle"/>
          </p:nvPr>
        </p:nvSpPr>
        <p:spPr>
          <a:xfrm>
            <a:off x="838080" y="1825560"/>
            <a:ext cx="10513800" cy="43495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96930D45-38E6-4286-AA85-A3860CE5ED65}" type="slidenum">
              <a:t>&lt;#&gt;</a:t>
            </a:fld>
          </a:p>
        </p:txBody>
      </p:sp>
      <p:sp>
        <p:nvSpPr>
          <p:cNvPr id="6" name="PlaceHolder 5"/>
          <p:cNvSpPr>
            <a:spLocks noGrp="1"/>
          </p:cNvSpPr>
          <p:nvPr>
            <p:ph type="dt" idx="36"/>
          </p:nvPr>
        </p:nvSpPr>
        <p:spPr/>
        <p:txBody>
          <a:bodyPr/>
          <a:p>
            <a:r>
              <a:rPr lang="zh-TW"/>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預設 1">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5669CD5B-C80B-42F6-ADC3-14262421B0A0}" type="slidenum">
              <a:t>&lt;#&gt;</a:t>
            </a:fld>
          </a:p>
        </p:txBody>
      </p:sp>
      <p:sp>
        <p:nvSpPr>
          <p:cNvPr id="4" name="PlaceHolder 3"/>
          <p:cNvSpPr>
            <a:spLocks noGrp="1"/>
          </p:cNvSpPr>
          <p:nvPr>
            <p:ph type="dt" idx="39"/>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預設 2">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E830E439-08F8-4347-B126-775BA28D70B3}" type="slidenum">
              <a:t>&lt;#&gt;</a:t>
            </a:fld>
          </a:p>
        </p:txBody>
      </p:sp>
      <p:sp>
        <p:nvSpPr>
          <p:cNvPr id="4" name="PlaceHolder 3"/>
          <p:cNvSpPr>
            <a:spLocks noGrp="1"/>
          </p:cNvSpPr>
          <p:nvPr>
            <p:ph type="dt" idx="42"/>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預設 3">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C7ABE099-5E49-45E7-B168-5F252A7452E2}" type="slidenum">
              <a:t>&lt;#&gt;</a:t>
            </a:fld>
          </a:p>
        </p:txBody>
      </p:sp>
      <p:sp>
        <p:nvSpPr>
          <p:cNvPr id="6" name="PlaceHolder 5"/>
          <p:cNvSpPr>
            <a:spLocks noGrp="1"/>
          </p:cNvSpPr>
          <p:nvPr>
            <p:ph type="dt" idx="45"/>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預設 4">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CF39EFFF-5F74-40F0-AFA9-C82BF78E7277}" type="slidenum">
              <a:t>&lt;#&gt;</a:t>
            </a:fld>
          </a:p>
        </p:txBody>
      </p:sp>
      <p:sp>
        <p:nvSpPr>
          <p:cNvPr id="4" name="PlaceHolder 3"/>
          <p:cNvSpPr>
            <a:spLocks noGrp="1"/>
          </p:cNvSpPr>
          <p:nvPr>
            <p:ph type="dt" idx="48"/>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預設 5">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4" name="PlaceHolder 2"/>
          <p:cNvSpPr>
            <a:spLocks noGrp="1"/>
          </p:cNvSpPr>
          <p:nvPr>
            <p:ph/>
          </p:nvPr>
        </p:nvSpPr>
        <p:spPr>
          <a:xfrm>
            <a:off x="83808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 name="PlaceHolder 3"/>
          <p:cNvSpPr>
            <a:spLocks noGrp="1"/>
          </p:cNvSpPr>
          <p:nvPr>
            <p:ph/>
          </p:nvPr>
        </p:nvSpPr>
        <p:spPr>
          <a:xfrm>
            <a:off x="622584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9"/>
          </p:nvPr>
        </p:nvSpPr>
        <p:spPr/>
        <p:txBody>
          <a:bodyPr/>
          <a:p>
            <a:r>
              <a:t>Footer</a:t>
            </a:r>
          </a:p>
        </p:txBody>
      </p:sp>
      <p:sp>
        <p:nvSpPr>
          <p:cNvPr id="6" name="PlaceHolder 5"/>
          <p:cNvSpPr>
            <a:spLocks noGrp="1"/>
          </p:cNvSpPr>
          <p:nvPr>
            <p:ph type="sldNum" idx="50"/>
          </p:nvPr>
        </p:nvSpPr>
        <p:spPr/>
        <p:txBody>
          <a:bodyPr/>
          <a:p>
            <a:fld id="{85CA32E3-1C61-41C1-9F51-C2F5ACA0FA38}" type="slidenum">
              <a:t>&lt;#&gt;</a:t>
            </a:fld>
          </a:p>
        </p:txBody>
      </p:sp>
      <p:sp>
        <p:nvSpPr>
          <p:cNvPr id="7" name="PlaceHolder 6"/>
          <p:cNvSpPr>
            <a:spLocks noGrp="1"/>
          </p:cNvSpPr>
          <p:nvPr>
            <p:ph type="dt" idx="51"/>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預設 6">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BA46BFFE-50DC-46B7-BAF4-910F941C89EF}" type="slidenum">
              <a:t>&lt;#&gt;</a:t>
            </a:fld>
          </a:p>
        </p:txBody>
      </p:sp>
      <p:sp>
        <p:nvSpPr>
          <p:cNvPr id="4" name="PlaceHolder 3"/>
          <p:cNvSpPr>
            <a:spLocks noGrp="1"/>
          </p:cNvSpPr>
          <p:nvPr>
            <p:ph type="dt" idx="5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預設 7">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55"/>
          </p:nvPr>
        </p:nvSpPr>
        <p:spPr/>
        <p:txBody>
          <a:bodyPr/>
          <a:p>
            <a:r>
              <a:t>Footer</a:t>
            </a:r>
          </a:p>
        </p:txBody>
      </p:sp>
      <p:sp>
        <p:nvSpPr>
          <p:cNvPr id="4" name="PlaceHolder 3"/>
          <p:cNvSpPr>
            <a:spLocks noGrp="1"/>
          </p:cNvSpPr>
          <p:nvPr>
            <p:ph type="sldNum" idx="56"/>
          </p:nvPr>
        </p:nvSpPr>
        <p:spPr/>
        <p:txBody>
          <a:bodyPr/>
          <a:p>
            <a:fld id="{56FB6BC5-51D7-4B94-A918-C15725704019}" type="slidenum">
              <a:t>&lt;#&gt;</a:t>
            </a:fld>
          </a:p>
        </p:txBody>
      </p:sp>
      <p:sp>
        <p:nvSpPr>
          <p:cNvPr id="5" name="PlaceHolder 4"/>
          <p:cNvSpPr>
            <a:spLocks noGrp="1"/>
          </p:cNvSpPr>
          <p:nvPr>
            <p:ph type="dt" idx="57"/>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預設 8">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B12208B7-70E7-4558-8353-0DCF850C8998}" type="slidenum">
              <a:t>&lt;#&gt;</a:t>
            </a:fld>
          </a:p>
        </p:txBody>
      </p:sp>
      <p:sp>
        <p:nvSpPr>
          <p:cNvPr id="4" name="PlaceHolder 3"/>
          <p:cNvSpPr>
            <a:spLocks noGrp="1"/>
          </p:cNvSpPr>
          <p:nvPr>
            <p:ph type="dt" idx="60"/>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預設 9">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6AD9A106-16D5-4FDA-8CFF-5423411D83C1}" type="slidenum">
              <a:t>&lt;#&gt;</a:t>
            </a:fld>
          </a:p>
        </p:txBody>
      </p:sp>
      <p:sp>
        <p:nvSpPr>
          <p:cNvPr id="4" name="PlaceHolder 3"/>
          <p:cNvSpPr>
            <a:spLocks noGrp="1"/>
          </p:cNvSpPr>
          <p:nvPr>
            <p:ph type="dt" idx="63"/>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預設 10">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A0FD8A7E-878E-481F-802A-EC0BC0C8BC70}" type="slidenum">
              <a:t>&lt;#&gt;</a:t>
            </a:fld>
          </a:p>
        </p:txBody>
      </p:sp>
      <p:sp>
        <p:nvSpPr>
          <p:cNvPr id="4" name="PlaceHolder 3"/>
          <p:cNvSpPr>
            <a:spLocks noGrp="1"/>
          </p:cNvSpPr>
          <p:nvPr>
            <p:ph type="dt" idx="66"/>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3.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4.xml"/></Relationships>
</file>

<file path=ppt/slideMasters/_rels/slideMaster14.xml.rels><?xml version='1.0' encoding='UTF-8' standalone='yes'?>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5.xml"/></Relationships>
</file>

<file path=ppt/slideMasters/_rels/slideMaster15.xml.rels><?xml version='1.0' encoding='UTF-8' standalone='yes'?>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Relationships>
</file>

<file path=ppt/slideMasters/_rels/slideMaster17.xml.rels><?xml version='1.0' encoding='UTF-8' standalone='yes'?>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Relationships>
</file>

<file path=ppt/slideMasters/_rels/slideMaster18.xml.rels><?xml version='1.0' encoding='UTF-8' standalone='yes'?>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9.xml"/></Relationships>
</file>

<file path=ppt/slideMasters/_rels/slideMaster19.xml.rels><?xml version='1.0' encoding='UTF-8' standalone='yes'?>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20.xml"/></Relationships>
</file>

<file path=ppt/slideMasters/_rels/slideMaster20.xml.rels><?xml version='1.0' encoding='UTF-8' standalone='yes'?>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1.xml"/></Relationships>
</file>

<file path=ppt/slideMasters/_rels/slideMaster21.xml.rels><?xml version='1.0' encoding='UTF-8' standalone='yes'?>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2.xml"/></Relationships>
</file>

<file path=ppt/slideMasters/_rels/slideMaster22.xml.rels><?xml version='1.0' encoding='UTF-8' standalone='yes'?>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B189A8ED-3760-49D9-A7C7-BB125ABEC538}" type="slidenum">
              <a:rPr b="0" lang="en-US" sz="1400" spc="-1" strike="noStrike">
                <a:solidFill>
                  <a:srgbClr val="000000"/>
                </a:solidFill>
                <a:latin typeface="Times New Roman"/>
              </a:rPr>
              <a:t>34</a:t>
            </a:fld>
            <a:endParaRPr b="0" lang="en-US" sz="1400" spc="-1" strike="noStrike">
              <a:solidFill>
                <a:srgbClr val="000000"/>
              </a:solidFill>
              <a:latin typeface="Times New Roman"/>
            </a:endParaRPr>
          </a:p>
        </p:txBody>
      </p:sp>
      <p:sp>
        <p:nvSpPr>
          <p:cNvPr id="3" name="PlaceHolder 4"/>
          <p:cNvSpPr>
            <a:spLocks noGrp="1"/>
          </p:cNvSpPr>
          <p:nvPr>
            <p:ph type="dt" idx="3"/>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3200" spc="-1" strike="noStrike">
                <a:solidFill>
                  <a:srgbClr val="000000"/>
                </a:solidFill>
                <a:latin typeface="Arial"/>
              </a:rPr>
              <a:t>請按這裡編輯大綱文字格式</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2800" spc="-1" strike="noStrike">
                <a:solidFill>
                  <a:srgbClr val="000000"/>
                </a:solidFill>
                <a:latin typeface="Arial"/>
              </a:rPr>
              <a:t>第二個大綱層次</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2400" spc="-1" strike="noStrike">
                <a:solidFill>
                  <a:srgbClr val="000000"/>
                </a:solidFill>
                <a:latin typeface="Arial"/>
              </a:rPr>
              <a:t>第三個大綱層次</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2000" spc="-1" strike="noStrike">
                <a:solidFill>
                  <a:srgbClr val="000000"/>
                </a:solidFill>
                <a:latin typeface="Arial"/>
              </a:rPr>
              <a:t>第四個大綱層次</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2000" spc="-1" strike="noStrike">
                <a:solidFill>
                  <a:srgbClr val="000000"/>
                </a:solidFill>
                <a:latin typeface="Arial"/>
              </a:rPr>
              <a:t>第五個大綱層次</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2000" spc="-1" strike="noStrike">
                <a:solidFill>
                  <a:srgbClr val="000000"/>
                </a:solidFill>
                <a:latin typeface="Arial"/>
              </a:rPr>
              <a:t>第六個大綱層次</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2000" spc="-1" strike="noStrike">
                <a:solidFill>
                  <a:srgbClr val="000000"/>
                </a:solidFill>
                <a:latin typeface="Arial"/>
              </a:rPr>
              <a:t>第七個大綱層次</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10" name="PlaceHolder 2"/>
          <p:cNvSpPr>
            <a:spLocks noGrp="1"/>
          </p:cNvSpPr>
          <p:nvPr>
            <p:ph type="sldNum" idx="5"/>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8C8DAF74-EEB5-4A6C-B3AF-E460E18394A7}"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11" name="PlaceHolder 3"/>
          <p:cNvSpPr>
            <a:spLocks noGrp="1"/>
          </p:cNvSpPr>
          <p:nvPr>
            <p:ph type="dt" idx="6"/>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7"/>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13" name="PlaceHolder 2"/>
          <p:cNvSpPr>
            <a:spLocks noGrp="1"/>
          </p:cNvSpPr>
          <p:nvPr>
            <p:ph type="sldNum" idx="8"/>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402C7BA8-D32E-4B13-ABEE-4A2231043175}"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14" name="PlaceHolder 3"/>
          <p:cNvSpPr>
            <a:spLocks noGrp="1"/>
          </p:cNvSpPr>
          <p:nvPr>
            <p:ph type="dt" idx="9"/>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16"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17" name="PlaceHolder 3"/>
          <p:cNvSpPr>
            <a:spLocks noGrp="1"/>
          </p:cNvSpPr>
          <p:nvPr>
            <p:ph type="ftr" idx="10"/>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18" name="PlaceHolder 4"/>
          <p:cNvSpPr>
            <a:spLocks noGrp="1"/>
          </p:cNvSpPr>
          <p:nvPr>
            <p:ph type="sldNum" idx="11"/>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F7E05D3-C2E0-4BFD-8D77-881CF78F1308}"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19" name="PlaceHolder 5"/>
          <p:cNvSpPr>
            <a:spLocks noGrp="1"/>
          </p:cNvSpPr>
          <p:nvPr>
            <p:ph type="dt" idx="12"/>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ftr" idx="13"/>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23" name="PlaceHolder 2"/>
          <p:cNvSpPr>
            <a:spLocks noGrp="1"/>
          </p:cNvSpPr>
          <p:nvPr>
            <p:ph type="sldNum" idx="14"/>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26C8CDC7-BB08-4A29-99E2-2EA435D37AD7}"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24" name="PlaceHolder 3"/>
          <p:cNvSpPr>
            <a:spLocks noGrp="1"/>
          </p:cNvSpPr>
          <p:nvPr>
            <p:ph type="dt" idx="15"/>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
        <p:nvSpPr>
          <p:cNvPr id="2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zh-TW" sz="4400" spc="-1" strike="noStrike">
                <a:solidFill>
                  <a:srgbClr val="000000"/>
                </a:solidFill>
                <a:latin typeface="Arial"/>
              </a:rPr>
              <a:t>請按這裡編輯題名文字格式</a:t>
            </a:r>
            <a:endParaRPr b="0" lang="en-US" sz="4400" spc="-1" strike="noStrike">
              <a:solidFill>
                <a:srgbClr val="000000"/>
              </a:solidFill>
              <a:latin typeface="Arial"/>
            </a:endParaRPr>
          </a:p>
        </p:txBody>
      </p:sp>
      <p:sp>
        <p:nvSpPr>
          <p:cNvPr id="2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3200" spc="-1" strike="noStrike">
                <a:solidFill>
                  <a:srgbClr val="000000"/>
                </a:solidFill>
                <a:latin typeface="Arial"/>
              </a:rPr>
              <a:t>請按這裡編輯大綱文字格式</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2800" spc="-1" strike="noStrike">
                <a:solidFill>
                  <a:srgbClr val="000000"/>
                </a:solidFill>
                <a:latin typeface="Arial"/>
              </a:rPr>
              <a:t>第二個大綱層次</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2400" spc="-1" strike="noStrike">
                <a:solidFill>
                  <a:srgbClr val="000000"/>
                </a:solidFill>
                <a:latin typeface="Arial"/>
              </a:rPr>
              <a:t>第三個大綱層次</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2000" spc="-1" strike="noStrike">
                <a:solidFill>
                  <a:srgbClr val="000000"/>
                </a:solidFill>
                <a:latin typeface="Arial"/>
              </a:rPr>
              <a:t>第四個大綱層次</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2000" spc="-1" strike="noStrike">
                <a:solidFill>
                  <a:srgbClr val="000000"/>
                </a:solidFill>
                <a:latin typeface="Arial"/>
              </a:rPr>
              <a:t>第五個大綱層次</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2000" spc="-1" strike="noStrike">
                <a:solidFill>
                  <a:srgbClr val="000000"/>
                </a:solidFill>
                <a:latin typeface="Arial"/>
              </a:rPr>
              <a:t>第六個大綱層次</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2000" spc="-1" strike="noStrike">
                <a:solidFill>
                  <a:srgbClr val="000000"/>
                </a:solidFill>
                <a:latin typeface="Arial"/>
              </a:rPr>
              <a:t>第七個大綱層次</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8"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28" name="PlaceHolder 2"/>
          <p:cNvSpPr>
            <a:spLocks noGrp="1"/>
          </p:cNvSpPr>
          <p:nvPr>
            <p:ph type="body"/>
          </p:nvPr>
        </p:nvSpPr>
        <p:spPr>
          <a:xfrm>
            <a:off x="83808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29" name="PlaceHolder 3"/>
          <p:cNvSpPr>
            <a:spLocks noGrp="1"/>
          </p:cNvSpPr>
          <p:nvPr>
            <p:ph type="body"/>
          </p:nvPr>
        </p:nvSpPr>
        <p:spPr>
          <a:xfrm>
            <a:off x="622584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30" name="PlaceHolder 4"/>
          <p:cNvSpPr>
            <a:spLocks noGrp="1"/>
          </p:cNvSpPr>
          <p:nvPr>
            <p:ph type="ftr" idx="16"/>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31" name="PlaceHolder 5"/>
          <p:cNvSpPr>
            <a:spLocks noGrp="1"/>
          </p:cNvSpPr>
          <p:nvPr>
            <p:ph type="sldNum" idx="17"/>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14353812-CBF0-47B5-86A1-BDE6DA29AEC0}"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32" name="PlaceHolder 6"/>
          <p:cNvSpPr>
            <a:spLocks noGrp="1"/>
          </p:cNvSpPr>
          <p:nvPr>
            <p:ph type="dt" idx="18"/>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ftr" idx="19"/>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37" name="PlaceHolder 2"/>
          <p:cNvSpPr>
            <a:spLocks noGrp="1"/>
          </p:cNvSpPr>
          <p:nvPr>
            <p:ph type="sldNum" idx="20"/>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55142AB-BDBB-41B4-A446-617D9A1DA66E}"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38" name="PlaceHolder 3"/>
          <p:cNvSpPr>
            <a:spLocks noGrp="1"/>
          </p:cNvSpPr>
          <p:nvPr>
            <p:ph type="dt" idx="21"/>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40" name="PlaceHolder 2"/>
          <p:cNvSpPr>
            <a:spLocks noGrp="1"/>
          </p:cNvSpPr>
          <p:nvPr>
            <p:ph type="ftr" idx="22"/>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41" name="PlaceHolder 3"/>
          <p:cNvSpPr>
            <a:spLocks noGrp="1"/>
          </p:cNvSpPr>
          <p:nvPr>
            <p:ph type="sldNum" idx="23"/>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978A381F-435D-42DF-83CB-DF54CD2543A7}"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42" name="PlaceHolder 4"/>
          <p:cNvSpPr>
            <a:spLocks noGrp="1"/>
          </p:cNvSpPr>
          <p:nvPr>
            <p:ph type="dt" idx="24"/>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4"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5"/>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45" name="PlaceHolder 2"/>
          <p:cNvSpPr>
            <a:spLocks noGrp="1"/>
          </p:cNvSpPr>
          <p:nvPr>
            <p:ph type="sldNum" idx="26"/>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DCA7C6ED-9DD5-4D14-A3DA-70BE21620F25}"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46" name="PlaceHolder 3"/>
          <p:cNvSpPr>
            <a:spLocks noGrp="1"/>
          </p:cNvSpPr>
          <p:nvPr>
            <p:ph type="dt" idx="27"/>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28"/>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48" name="PlaceHolder 2"/>
          <p:cNvSpPr>
            <a:spLocks noGrp="1"/>
          </p:cNvSpPr>
          <p:nvPr>
            <p:ph type="sldNum" idx="29"/>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7B2006CB-90A0-4C8D-B779-6EFD9144D5A0}"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49" name="PlaceHolder 3"/>
          <p:cNvSpPr>
            <a:spLocks noGrp="1"/>
          </p:cNvSpPr>
          <p:nvPr>
            <p:ph type="dt" idx="30"/>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8"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51" name="PlaceHolder 2"/>
          <p:cNvSpPr>
            <a:spLocks noGrp="1"/>
          </p:cNvSpPr>
          <p:nvPr>
            <p:ph type="sldNum" idx="32"/>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CFEEBD67-3DAF-4B20-8F56-C83EFA10D654}"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52" name="PlaceHolder 3"/>
          <p:cNvSpPr>
            <a:spLocks noGrp="1"/>
          </p:cNvSpPr>
          <p:nvPr>
            <p:ph type="dt" idx="33"/>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0"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54" name="PlaceHolder 2"/>
          <p:cNvSpPr>
            <a:spLocks noGrp="1"/>
          </p:cNvSpPr>
          <p:nvPr>
            <p:ph type="ftr" idx="3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55" name="PlaceHolder 3"/>
          <p:cNvSpPr>
            <a:spLocks noGrp="1"/>
          </p:cNvSpPr>
          <p:nvPr>
            <p:ph type="sldNum" idx="35"/>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A62BD40F-5E9B-4F81-82C0-72EA24831C0C}"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56" name="PlaceHolder 4"/>
          <p:cNvSpPr>
            <a:spLocks noGrp="1"/>
          </p:cNvSpPr>
          <p:nvPr>
            <p:ph type="dt" idx="36"/>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2"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ftr" idx="37"/>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60" name="PlaceHolder 2"/>
          <p:cNvSpPr>
            <a:spLocks noGrp="1"/>
          </p:cNvSpPr>
          <p:nvPr>
            <p:ph type="sldNum" idx="38"/>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91D3637A-F75B-477B-8110-4D80D95B954A}"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61" name="PlaceHolder 3"/>
          <p:cNvSpPr>
            <a:spLocks noGrp="1"/>
          </p:cNvSpPr>
          <p:nvPr>
            <p:ph type="dt" idx="39"/>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4"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ftr" idx="40"/>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63" name="PlaceHolder 2"/>
          <p:cNvSpPr>
            <a:spLocks noGrp="1"/>
          </p:cNvSpPr>
          <p:nvPr>
            <p:ph type="sldNum" idx="41"/>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B404DBFF-F541-4DE8-AC25-E991785962B1}"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64" name="PlaceHolder 3"/>
          <p:cNvSpPr>
            <a:spLocks noGrp="1"/>
          </p:cNvSpPr>
          <p:nvPr>
            <p:ph type="dt" idx="42"/>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6"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66"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67" name="PlaceHolder 3"/>
          <p:cNvSpPr>
            <a:spLocks noGrp="1"/>
          </p:cNvSpPr>
          <p:nvPr>
            <p:ph type="ftr" idx="43"/>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68" name="PlaceHolder 4"/>
          <p:cNvSpPr>
            <a:spLocks noGrp="1"/>
          </p:cNvSpPr>
          <p:nvPr>
            <p:ph type="sldNum" idx="44"/>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8FC5729-7716-42A3-98BF-476578E2E0D0}"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69" name="PlaceHolder 5"/>
          <p:cNvSpPr>
            <a:spLocks noGrp="1"/>
          </p:cNvSpPr>
          <p:nvPr>
            <p:ph type="dt" idx="45"/>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8"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ftr" idx="46"/>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73" name="PlaceHolder 2"/>
          <p:cNvSpPr>
            <a:spLocks noGrp="1"/>
          </p:cNvSpPr>
          <p:nvPr>
            <p:ph type="sldNum" idx="47"/>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0CD06281-BFEC-4D9C-8F50-1D2212E96E71}"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74" name="PlaceHolder 3"/>
          <p:cNvSpPr>
            <a:spLocks noGrp="1"/>
          </p:cNvSpPr>
          <p:nvPr>
            <p:ph type="dt" idx="48"/>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
        <p:nvSpPr>
          <p:cNvPr id="7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zh-TW" sz="4400" spc="-1" strike="noStrike">
                <a:solidFill>
                  <a:srgbClr val="000000"/>
                </a:solidFill>
                <a:latin typeface="Arial"/>
              </a:rPr>
              <a:t>請按這裡編輯題名文字格式</a:t>
            </a:r>
            <a:endParaRPr b="0" lang="en-US" sz="4400" spc="-1" strike="noStrike">
              <a:solidFill>
                <a:srgbClr val="000000"/>
              </a:solidFill>
              <a:latin typeface="Arial"/>
            </a:endParaRPr>
          </a:p>
        </p:txBody>
      </p:sp>
      <p:sp>
        <p:nvSpPr>
          <p:cNvPr id="7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3200" spc="-1" strike="noStrike">
                <a:solidFill>
                  <a:srgbClr val="000000"/>
                </a:solidFill>
                <a:latin typeface="Arial"/>
              </a:rPr>
              <a:t>請按這裡編輯大綱文字格式</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2800" spc="-1" strike="noStrike">
                <a:solidFill>
                  <a:srgbClr val="000000"/>
                </a:solidFill>
                <a:latin typeface="Arial"/>
              </a:rPr>
              <a:t>第二個大綱層次</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2400" spc="-1" strike="noStrike">
                <a:solidFill>
                  <a:srgbClr val="000000"/>
                </a:solidFill>
                <a:latin typeface="Arial"/>
              </a:rPr>
              <a:t>第三個大綱層次</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2000" spc="-1" strike="noStrike">
                <a:solidFill>
                  <a:srgbClr val="000000"/>
                </a:solidFill>
                <a:latin typeface="Arial"/>
              </a:rPr>
              <a:t>第四個大綱層次</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2000" spc="-1" strike="noStrike">
                <a:solidFill>
                  <a:srgbClr val="000000"/>
                </a:solidFill>
                <a:latin typeface="Arial"/>
              </a:rPr>
              <a:t>第五個大綱層次</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2000" spc="-1" strike="noStrike">
                <a:solidFill>
                  <a:srgbClr val="000000"/>
                </a:solidFill>
                <a:latin typeface="Arial"/>
              </a:rPr>
              <a:t>第六個大綱層次</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2000" spc="-1" strike="noStrike">
                <a:solidFill>
                  <a:srgbClr val="000000"/>
                </a:solidFill>
                <a:latin typeface="Arial"/>
              </a:rPr>
              <a:t>第七個大綱層次</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78" name="PlaceHolder 2"/>
          <p:cNvSpPr>
            <a:spLocks noGrp="1"/>
          </p:cNvSpPr>
          <p:nvPr>
            <p:ph type="body"/>
          </p:nvPr>
        </p:nvSpPr>
        <p:spPr>
          <a:xfrm>
            <a:off x="83808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79" name="PlaceHolder 3"/>
          <p:cNvSpPr>
            <a:spLocks noGrp="1"/>
          </p:cNvSpPr>
          <p:nvPr>
            <p:ph type="body"/>
          </p:nvPr>
        </p:nvSpPr>
        <p:spPr>
          <a:xfrm>
            <a:off x="622584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1800" spc="-1" strike="noStrike">
                <a:solidFill>
                  <a:srgbClr val="000000"/>
                </a:solidFill>
                <a:latin typeface="Arial"/>
              </a:rPr>
              <a:t>請按這裡編輯大綱文字格式</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zh-TW" sz="1800" spc="-1" strike="noStrike">
                <a:solidFill>
                  <a:srgbClr val="000000"/>
                </a:solidFill>
                <a:latin typeface="Arial"/>
              </a:rPr>
              <a:t>第二個大綱層次</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zh-TW" sz="1800" spc="-1" strike="noStrike">
                <a:solidFill>
                  <a:srgbClr val="000000"/>
                </a:solidFill>
                <a:latin typeface="Arial"/>
              </a:rPr>
              <a:t>第三個大綱層次</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zh-TW" sz="1800" spc="-1" strike="noStrike">
                <a:solidFill>
                  <a:srgbClr val="000000"/>
                </a:solidFill>
                <a:latin typeface="Arial"/>
              </a:rPr>
              <a:t>第四個大綱層次</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zh-TW" sz="1800" spc="-1" strike="noStrike">
                <a:solidFill>
                  <a:srgbClr val="000000"/>
                </a:solidFill>
                <a:latin typeface="Arial"/>
              </a:rPr>
              <a:t>第五個大綱層次</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zh-TW" sz="1800" spc="-1" strike="noStrike">
                <a:solidFill>
                  <a:srgbClr val="000000"/>
                </a:solidFill>
                <a:latin typeface="Arial"/>
              </a:rPr>
              <a:t>第六個大綱層次</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zh-TW" sz="1800" spc="-1" strike="noStrike">
                <a:solidFill>
                  <a:srgbClr val="000000"/>
                </a:solidFill>
                <a:latin typeface="Arial"/>
              </a:rPr>
              <a:t>第七個大綱層次</a:t>
            </a:r>
            <a:endParaRPr b="0" lang="en-US" sz="1800" spc="-1" strike="noStrike">
              <a:solidFill>
                <a:srgbClr val="000000"/>
              </a:solidFill>
              <a:latin typeface="Arial"/>
            </a:endParaRPr>
          </a:p>
        </p:txBody>
      </p:sp>
      <p:sp>
        <p:nvSpPr>
          <p:cNvPr id="80" name="PlaceHolder 4"/>
          <p:cNvSpPr>
            <a:spLocks noGrp="1"/>
          </p:cNvSpPr>
          <p:nvPr>
            <p:ph type="ftr" idx="49"/>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81" name="PlaceHolder 5"/>
          <p:cNvSpPr>
            <a:spLocks noGrp="1"/>
          </p:cNvSpPr>
          <p:nvPr>
            <p:ph type="sldNum" idx="50"/>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E9BF5262-6F17-4217-BA8D-15F223980286}"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82" name="PlaceHolder 6"/>
          <p:cNvSpPr>
            <a:spLocks noGrp="1"/>
          </p:cNvSpPr>
          <p:nvPr>
            <p:ph type="dt" idx="51"/>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ftr" idx="52"/>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87" name="PlaceHolder 2"/>
          <p:cNvSpPr>
            <a:spLocks noGrp="1"/>
          </p:cNvSpPr>
          <p:nvPr>
            <p:ph type="sldNum" idx="53"/>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0E097933-D22E-4FDE-9D77-23C34E3AC23F}"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88" name="PlaceHolder 3"/>
          <p:cNvSpPr>
            <a:spLocks noGrp="1"/>
          </p:cNvSpPr>
          <p:nvPr>
            <p:ph type="dt" idx="54"/>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4"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zh-TW" sz="1800" spc="-1" strike="noStrike">
                <a:solidFill>
                  <a:srgbClr val="000000"/>
                </a:solidFill>
                <a:latin typeface="Arial"/>
              </a:rPr>
              <a:t>請按這裡編輯題名文字格式</a:t>
            </a:r>
            <a:endParaRPr b="0" lang="en-US" sz="1800" spc="-1" strike="noStrike">
              <a:solidFill>
                <a:srgbClr val="000000"/>
              </a:solidFill>
              <a:latin typeface="Arial"/>
            </a:endParaRPr>
          </a:p>
        </p:txBody>
      </p:sp>
      <p:sp>
        <p:nvSpPr>
          <p:cNvPr id="90" name="PlaceHolder 2"/>
          <p:cNvSpPr>
            <a:spLocks noGrp="1"/>
          </p:cNvSpPr>
          <p:nvPr>
            <p:ph type="ftr" idx="55"/>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91" name="PlaceHolder 3"/>
          <p:cNvSpPr>
            <a:spLocks noGrp="1"/>
          </p:cNvSpPr>
          <p:nvPr>
            <p:ph type="sldNum" idx="56"/>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2617ACDC-CB19-49ED-BD72-F11300C7FC86}"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92" name="PlaceHolder 4"/>
          <p:cNvSpPr>
            <a:spLocks noGrp="1"/>
          </p:cNvSpPr>
          <p:nvPr>
            <p:ph type="dt" idx="57"/>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6"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PlaceHolder 1"/>
          <p:cNvSpPr>
            <a:spLocks noGrp="1"/>
          </p:cNvSpPr>
          <p:nvPr>
            <p:ph type="ftr" idx="58"/>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95" name="PlaceHolder 2"/>
          <p:cNvSpPr>
            <a:spLocks noGrp="1"/>
          </p:cNvSpPr>
          <p:nvPr>
            <p:ph type="sldNum" idx="59"/>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37C3F3B7-6EDA-40E3-B70C-26086D41FE29}"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96" name="PlaceHolder 3"/>
          <p:cNvSpPr>
            <a:spLocks noGrp="1"/>
          </p:cNvSpPr>
          <p:nvPr>
            <p:ph type="dt" idx="60"/>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ftr" idx="6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98" name="PlaceHolder 2"/>
          <p:cNvSpPr>
            <a:spLocks noGrp="1"/>
          </p:cNvSpPr>
          <p:nvPr>
            <p:ph type="sldNum" idx="62"/>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1EB09D8F-5941-42D1-9FFD-639E220D7675}"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99" name="PlaceHolder 3"/>
          <p:cNvSpPr>
            <a:spLocks noGrp="1"/>
          </p:cNvSpPr>
          <p:nvPr>
            <p:ph type="dt" idx="63"/>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0"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ftr" idx="6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101" name="PlaceHolder 2"/>
          <p:cNvSpPr>
            <a:spLocks noGrp="1"/>
          </p:cNvSpPr>
          <p:nvPr>
            <p:ph type="sldNum" idx="65"/>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962A124-A9C6-4A8B-899F-1B1A0195A4E0}"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
        <p:nvSpPr>
          <p:cNvPr id="102" name="PlaceHolder 3"/>
          <p:cNvSpPr>
            <a:spLocks noGrp="1"/>
          </p:cNvSpPr>
          <p:nvPr>
            <p:ph type="dt" idx="66"/>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2"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9" name="PlaceHolder 1"/>
          <p:cNvSpPr>
            <a:spLocks noGrp="1"/>
          </p:cNvSpPr>
          <p:nvPr>
            <p:ph type="title"/>
          </p:nvPr>
        </p:nvSpPr>
        <p:spPr>
          <a:xfrm>
            <a:off x="1523880" y="1122480"/>
            <a:ext cx="914220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6000" spc="-1" strike="noStrike">
                <a:solidFill>
                  <a:schemeClr val="dk1"/>
                </a:solidFill>
                <a:latin typeface="Aptos Display"/>
              </a:rPr>
              <a:t>PCIe for DV</a:t>
            </a:r>
            <a:endParaRPr b="0" lang="en-US" sz="6000" spc="-1" strike="noStrike">
              <a:solidFill>
                <a:srgbClr val="000000"/>
              </a:solidFill>
              <a:latin typeface="Arial"/>
            </a:endParaRPr>
          </a:p>
        </p:txBody>
      </p:sp>
      <p:sp>
        <p:nvSpPr>
          <p:cNvPr id="110"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a:r>
              <a:rPr b="0" spc="-1" strike="noStrike" sz="1800" lang="zh-TW">
                <a:solidFill>
                  <a:srgbClr val="000000"/>
                </a:solidFill>
                <a:latin typeface="Aptos"/>
              </a:rPr>
              <a:t>驗證導向補充：錯誤、流控、重傳、排序、LTSSM 細節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Outline</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一、錯誤處理與回報</a:t>
            </a:r>
          </a:p>
          <a:p>
            <a:pPr lvl="1"/>
            <a:r>
              <a:rPr b="1" lang="zh-TW" sz="1600" spc="-1" strike="noStrike">
                <a:solidFill>
                  <a:schemeClr val="dk1"/>
                </a:solidFill>
                <a:latin typeface="Aptos"/>
              </a:rPr>
              <a:t>分類 · 判定條件 · 錯誤訊息 · AER</a:t>
            </a:r>
          </a:p>
          <a:p>
            <a:pPr/>
            <a:r>
              <a:rPr b="1" lang="zh-TW" sz="2000" spc="-1" strike="noStrike">
                <a:solidFill>
                  <a:schemeClr val="dk1"/>
                </a:solidFill>
                <a:latin typeface="Aptos"/>
              </a:rPr>
              <a:t>二、流量控制 Flow Control</a:t>
            </a:r>
          </a:p>
          <a:p>
            <a:pPr lvl="1"/>
            <a:r>
              <a:rPr b="1" lang="zh-TW" sz="1600" spc="-1" strike="noStrike">
                <a:solidFill>
                  <a:schemeClr val="dk1"/>
                </a:solidFill>
                <a:latin typeface="Aptos"/>
              </a:rPr>
              <a:t>三類 credit · 初始化 · credit 帳目</a:t>
            </a:r>
          </a:p>
          <a:p>
            <a:pPr/>
            <a:r>
              <a:rPr b="1" lang="zh-TW" sz="2000" spc="-1" strike="noStrike">
                <a:solidFill>
                  <a:schemeClr val="dk1"/>
                </a:solidFill>
                <a:latin typeface="Aptos"/>
              </a:rPr>
              <a:t>三、重傳機制與計時器</a:t>
            </a:r>
          </a:p>
          <a:p>
            <a:pPr lvl="1"/>
            <a:r>
              <a:rPr b="1" lang="zh-TW" sz="1600" spc="-1" strike="noStrike">
                <a:solidFill>
                  <a:schemeClr val="dk1"/>
                </a:solidFill>
                <a:latin typeface="Aptos"/>
              </a:rPr>
              <a:t>replay buffer · 兩個計時器 · 序號邊界</a:t>
            </a:r>
          </a:p>
          <a:p>
            <a:pPr/>
            <a:r>
              <a:rPr b="1" lang="zh-TW" sz="2000" spc="-1" strike="noStrike">
                <a:solidFill>
                  <a:schemeClr val="dk1"/>
                </a:solidFill>
                <a:latin typeface="Aptos"/>
              </a:rPr>
              <a:t>四、事務排序規則</a:t>
            </a:r>
          </a:p>
          <a:p>
            <a:pPr lvl="1"/>
            <a:r>
              <a:rPr b="1" lang="zh-TW" sz="1600" spc="-1" strike="noStrike">
                <a:solidFill>
                  <a:schemeClr val="dk1"/>
                </a:solidFill>
                <a:latin typeface="Aptos"/>
              </a:rPr>
              <a:t>排序表 · 死結避免 · 放寬排序的風險</a:t>
            </a:r>
          </a:p>
          <a:p>
            <a:pPr/>
            <a:r>
              <a:rPr b="1" lang="zh-TW" sz="2000" spc="-1" strike="noStrike">
                <a:solidFill>
                  <a:schemeClr val="dk1"/>
                </a:solidFill>
                <a:latin typeface="Aptos"/>
              </a:rPr>
              <a:t>五、LTSSM 子狀態與 timeout</a:t>
            </a:r>
          </a:p>
          <a:p>
            <a:pPr lvl="1"/>
            <a:r>
              <a:rPr b="1" lang="zh-TW" sz="1600" spc="-1" strike="noStrike">
                <a:solidFill>
                  <a:schemeClr val="dk1"/>
                </a:solidFill>
                <a:latin typeface="Aptos"/>
              </a:rPr>
              <a:t>Detect / Polling / Configuration / Recovery · Equalization</a:t>
            </a:r>
          </a:p>
          <a:p>
            <a:pPr/>
            <a:r>
              <a:rPr b="1" lang="zh-TW" sz="2000" spc="-1" strike="noStrike">
                <a:solidFill>
                  <a:schemeClr val="dk1"/>
                </a:solidFill>
                <a:latin typeface="Aptos"/>
              </a:rPr>
              <a:t>六、暫存器屬性與 register test</a:t>
            </a:r>
          </a:p>
          <a:p>
            <a:pPr/>
            <a:r>
              <a:rPr b="1" lang="zh-TW" sz="2000" spc="-1" strike="noStrike">
                <a:solidFill>
                  <a:schemeClr val="dk1"/>
                </a:solidFill>
                <a:latin typeface="Aptos"/>
              </a:rPr>
              <a:t>七、Compliance 與測試模式</a:t>
            </a:r>
          </a:p>
          <a:p>
            <a:pPr/>
            <a:r>
              <a:rPr b="1" lang="zh-TW" sz="2000" spc="-1" strike="noStrike">
                <a:solidFill>
                  <a:schemeClr val="dk1"/>
                </a:solidFill>
                <a:latin typeface="Aptos"/>
              </a:rPr>
              <a:t>八、Gen6 FLIT Mode</a:t>
            </a:r>
          </a:p>
          <a:p>
            <a:pPr/>
            <a:r>
              <a:rPr b="1" lang="zh-TW" sz="2000" spc="-1" strike="noStrike">
                <a:solidFill>
                  <a:schemeClr val="dk1"/>
                </a:solidFill>
                <a:latin typeface="Aptos"/>
              </a:rPr>
              <a:t>九、驗證規劃與延伸閱讀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一、錯誤處理與回報</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錯誤處理的全貌</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PCIe 的錯誤機制分成四個環節</a:t>
            </a:r>
          </a:p>
          <a:p>
            <a:pPr lvl="1"/>
            <a:r>
              <a:rPr b="1" lang="zh-TW" sz="1700" spc="-1" strike="noStrike">
                <a:solidFill>
                  <a:schemeClr val="dk1"/>
                </a:solidFill>
                <a:latin typeface="Aptos"/>
              </a:rPr>
              <a:t>偵測：在某一層發現異常（CRC 不符、格式違規、逾時）</a:t>
            </a:r>
          </a:p>
          <a:p>
            <a:pPr lvl="1"/>
            <a:r>
              <a:rPr b="1" lang="zh-TW" sz="1700" spc="-1" strike="noStrike">
                <a:solidFill>
                  <a:schemeClr val="dk1"/>
                </a:solidFill>
                <a:latin typeface="Aptos"/>
              </a:rPr>
              <a:t>分類：判定嚴重性 —— 可修正 / 不可修正非致命 / 不可修正致命</a:t>
            </a:r>
          </a:p>
          <a:p>
            <a:pPr lvl="1"/>
            <a:r>
              <a:rPr b="1" lang="zh-TW" sz="1700" spc="-1" strike="noStrike">
                <a:solidFill>
                  <a:schemeClr val="dk1"/>
                </a:solidFill>
                <a:latin typeface="Aptos"/>
              </a:rPr>
              <a:t>回報：用 Error Message 往上送給 Root Complex</a:t>
            </a:r>
          </a:p>
          <a:p>
            <a:pPr lvl="1"/>
            <a:r>
              <a:rPr b="1" lang="zh-TW" sz="1700" spc="-1" strike="noStrike">
                <a:solidFill>
                  <a:schemeClr val="dk1"/>
                </a:solidFill>
                <a:latin typeface="Aptos"/>
              </a:rPr>
              <a:t>記錄：把錯誤狀態與封包表頭記進 AER 暫存器</a:t>
            </a:r>
          </a:p>
          <a:p>
            <a:pPr/>
            <a:r>
              <a:rPr b="1" lang="zh-TW" sz="2000" spc="-1" strike="noStrike">
                <a:solidFill>
                  <a:schemeClr val="dk1"/>
                </a:solidFill>
                <a:latin typeface="Aptos"/>
              </a:rPr>
              <a:t>兩套並存的機制</a:t>
            </a:r>
          </a:p>
          <a:p>
            <a:pPr lvl="1"/>
            <a:r>
              <a:rPr b="1" lang="zh-TW" sz="1700" spc="-1" strike="noStrike">
                <a:solidFill>
                  <a:schemeClr val="dk1"/>
                </a:solidFill>
                <a:latin typeface="Aptos"/>
              </a:rPr>
              <a:t>Baseline Error Reporting：所有裝置必備，只有基本的狀態位元</a:t>
            </a:r>
          </a:p>
          <a:p>
            <a:pPr lvl="1"/>
            <a:r>
              <a:rPr b="1" lang="zh-TW" sz="1700" spc="-1" strike="noStrike">
                <a:solidFill>
                  <a:schemeClr val="dk1"/>
                </a:solidFill>
                <a:latin typeface="Aptos"/>
              </a:rPr>
              <a:t>AER（Advanced Error Reporting）：選配的擴展能力，記錄詳細資訊</a:t>
            </a:r>
          </a:p>
          <a:p>
            <a:pPr/>
            <a:r>
              <a:rPr b="1" lang="zh-TW" sz="2000" spc="-1" strike="noStrike">
                <a:solidFill>
                  <a:schemeClr val="dk1"/>
                </a:solidFill>
                <a:latin typeface="Aptos"/>
              </a:rPr>
              <a:t>驗證思路：注入錯誤 → 檢查分類是否正確 → 檢查訊息是否發出 → 檢查記錄是否完整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錯誤的三種嚴重性分類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Correctable（可修正）</a:t>
            </a:r>
          </a:p>
          <a:p>
            <a:pPr lvl="1"/>
            <a:r>
              <a:rPr b="1" lang="zh-TW" sz="1700" spc="-1" strike="noStrike">
                <a:solidFill>
                  <a:schemeClr val="dk1"/>
                </a:solidFill>
                <a:latin typeface="Aptos"/>
              </a:rPr>
              <a:t>硬體自己能處理，資料沒有損失，軟體不需要介入</a:t>
            </a:r>
          </a:p>
          <a:p>
            <a:pPr lvl="1"/>
            <a:r>
              <a:rPr b="1" lang="zh-TW" sz="1700" spc="-1" strike="noStrike">
                <a:solidFill>
                  <a:schemeClr val="dk1"/>
                </a:solidFill>
                <a:latin typeface="Aptos"/>
              </a:rPr>
              <a:t>典型：Bad TLP、Bad DLLP、Replay Timer Timeout、Replay Num Rollover</a:t>
            </a:r>
          </a:p>
          <a:p>
            <a:pPr lvl="1"/>
            <a:r>
              <a:rPr b="1" lang="zh-TW" sz="1700" spc="-1" strike="noStrike">
                <a:solidFill>
                  <a:schemeClr val="dk1"/>
                </a:solidFill>
                <a:latin typeface="Aptos"/>
              </a:rPr>
              <a:t>處理方式：重傳，並記錄次數 —— 頻繁發生代表訊號品質在惡化</a:t>
            </a:r>
          </a:p>
          <a:p>
            <a:pPr/>
            <a:r>
              <a:rPr b="1" lang="zh-TW" sz="2000" spc="-1" strike="noStrike">
                <a:solidFill>
                  <a:schemeClr val="dk1"/>
                </a:solidFill>
                <a:latin typeface="Aptos"/>
              </a:rPr>
              <a:t>Uncorrectable Non-Fatal（不可修正、非致命）</a:t>
            </a:r>
          </a:p>
          <a:p>
            <a:pPr lvl="1"/>
            <a:r>
              <a:rPr b="1" lang="zh-TW" sz="1700" spc="-1" strike="noStrike">
                <a:solidFill>
                  <a:schemeClr val="dk1"/>
                </a:solidFill>
                <a:latin typeface="Aptos"/>
              </a:rPr>
              <a:t>這筆交易毀了，但鏈路本身還健康，其他交易可以繼續</a:t>
            </a:r>
          </a:p>
          <a:p>
            <a:pPr lvl="1"/>
            <a:r>
              <a:rPr b="1" lang="zh-TW" sz="1700" spc="-1" strike="noStrike">
                <a:solidFill>
                  <a:schemeClr val="dk1"/>
                </a:solidFill>
                <a:latin typeface="Aptos"/>
              </a:rPr>
              <a:t>典型：Poisoned TLP Received、Completion Timeout、Completer Abort、UR</a:t>
            </a:r>
          </a:p>
          <a:p>
            <a:pPr/>
            <a:r>
              <a:rPr b="1" lang="zh-TW" sz="2000" spc="-1" strike="noStrike">
                <a:solidFill>
                  <a:schemeClr val="dk1"/>
                </a:solidFill>
                <a:latin typeface="Aptos"/>
              </a:rPr>
              <a:t>Uncorrectable Fatal（不可修正、致命）</a:t>
            </a:r>
          </a:p>
          <a:p>
            <a:pPr lvl="1"/>
            <a:r>
              <a:rPr b="1" lang="zh-TW" sz="1700" spc="-1" strike="noStrike">
                <a:solidFill>
                  <a:schemeClr val="dk1"/>
                </a:solidFill>
                <a:latin typeface="Aptos"/>
              </a:rPr>
              <a:t>鏈路已經不可信，繼續用下去可能造成資料損毀</a:t>
            </a:r>
          </a:p>
          <a:p>
            <a:pPr lvl="1"/>
            <a:r>
              <a:rPr b="1" lang="zh-TW" sz="1700" spc="-1" strike="noStrike">
                <a:solidFill>
                  <a:schemeClr val="dk1"/>
                </a:solidFill>
                <a:latin typeface="Aptos"/>
              </a:rPr>
              <a:t>典型：Malformed TLP、Data Link Protocol Error、Surprise Down</a:t>
            </a:r>
          </a:p>
          <a:p>
            <a:pPr/>
            <a:r>
              <a:rPr b="1" lang="zh-TW" sz="2000" spc="-1" strike="noStrike">
                <a:solidFill>
                  <a:schemeClr val="dk1"/>
                </a:solidFill>
                <a:latin typeface="Aptos"/>
              </a:rPr>
              <a:t>嚴重性可由軟體改寫：AER 的 Uncorrectable Error Severity 暫存器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錯誤在哪一層被抓到</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物理層</a:t>
            </a:r>
          </a:p>
          <a:p>
            <a:pPr lvl="1"/>
            <a:r>
              <a:rPr b="1" lang="zh-TW" sz="1700" spc="-1" strike="noStrike">
                <a:solidFill>
                  <a:schemeClr val="dk1"/>
                </a:solidFill>
                <a:latin typeface="Aptos"/>
              </a:rPr>
              <a:t>Receiver Error：8b/10b 或 128b/130b 解碼失敗、彈性緩衝溢位</a:t>
            </a:r>
          </a:p>
          <a:p>
            <a:pPr lvl="1"/>
            <a:r>
              <a:rPr b="1" lang="zh-TW" sz="1700" spc="-1" strike="noStrike">
                <a:solidFill>
                  <a:schemeClr val="dk1"/>
                </a:solidFill>
                <a:latin typeface="Aptos"/>
              </a:rPr>
              <a:t>分類為 Correctable</a:t>
            </a:r>
          </a:p>
          <a:p>
            <a:pPr/>
            <a:r>
              <a:rPr b="1" lang="zh-TW" sz="2000" spc="-1" strike="noStrike">
                <a:solidFill>
                  <a:schemeClr val="dk1"/>
                </a:solidFill>
                <a:latin typeface="Aptos"/>
              </a:rPr>
              <a:t>資料鏈結層</a:t>
            </a:r>
          </a:p>
          <a:p>
            <a:pPr lvl="1"/>
            <a:r>
              <a:rPr b="1" lang="zh-TW" sz="1700" spc="-1" strike="noStrike">
                <a:solidFill>
                  <a:schemeClr val="dk1"/>
                </a:solidFill>
                <a:latin typeface="Aptos"/>
              </a:rPr>
              <a:t>Bad TLP：LCRC 不符或序號不對 → 回 Nak，Correctable</a:t>
            </a:r>
          </a:p>
          <a:p>
            <a:pPr lvl="1"/>
            <a:r>
              <a:rPr b="1" lang="zh-TW" sz="1700" spc="-1" strike="noStrike">
                <a:solidFill>
                  <a:schemeClr val="dk1"/>
                </a:solidFill>
                <a:latin typeface="Aptos"/>
              </a:rPr>
              <a:t>Bad DLLP：DLLP 的 CRC16 不符 → 直接丟棄，Correctable</a:t>
            </a:r>
          </a:p>
          <a:p>
            <a:pPr lvl="1"/>
            <a:r>
              <a:rPr b="1" lang="zh-TW" sz="1700" spc="-1" strike="noStrike">
                <a:solidFill>
                  <a:schemeClr val="dk1"/>
                </a:solidFill>
                <a:latin typeface="Aptos"/>
              </a:rPr>
              <a:t>Data Link Protocol Error：收到不合法的 Ack 序號 → Fatal</a:t>
            </a:r>
          </a:p>
          <a:p>
            <a:pPr/>
            <a:r>
              <a:rPr b="1" lang="zh-TW" sz="2000" spc="-1" strike="noStrike">
                <a:solidFill>
                  <a:schemeClr val="dk1"/>
                </a:solidFill>
                <a:latin typeface="Aptos"/>
              </a:rPr>
              <a:t>事務層</a:t>
            </a:r>
          </a:p>
          <a:p>
            <a:pPr lvl="1"/>
            <a:r>
              <a:rPr b="1" lang="zh-TW" sz="1700" spc="-1" strike="noStrike">
                <a:solidFill>
                  <a:schemeClr val="dk1"/>
                </a:solidFill>
                <a:latin typeface="Aptos"/>
              </a:rPr>
              <a:t>Malformed TLP → Fatal</a:t>
            </a:r>
          </a:p>
          <a:p>
            <a:pPr lvl="1"/>
            <a:r>
              <a:rPr b="1" lang="zh-TW" sz="1700" spc="-1" strike="noStrike">
                <a:solidFill>
                  <a:schemeClr val="dk1"/>
                </a:solidFill>
                <a:latin typeface="Aptos"/>
              </a:rPr>
              <a:t>ECRC Check Failed、Poisoned TLP、UR、CA、Completion Timeout → Non-Fatal</a:t>
            </a:r>
          </a:p>
          <a:p>
            <a:pPr/>
            <a:r>
              <a:rPr b="1" lang="zh-TW" sz="2000" spc="-1" strike="noStrike">
                <a:solidFill>
                  <a:schemeClr val="dk1"/>
                </a:solidFill>
                <a:latin typeface="Aptos"/>
              </a:rPr>
              <a:t>驗證上的意義：同一個注入點，要確認是「該層」抓到的，不是被上層誤判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Malformed TLP：格式違規</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定義：封包本身違反協定規則，接收端無法信任它</a:t>
            </a:r>
          </a:p>
          <a:p>
            <a:pPr/>
            <a:r>
              <a:rPr b="1" lang="zh-TW" sz="2000" spc="-1" strike="noStrike">
                <a:solidFill>
                  <a:schemeClr val="dk1"/>
                </a:solidFill>
                <a:latin typeface="Aptos"/>
              </a:rPr>
              <a:t>常見的判定條件</a:t>
            </a:r>
          </a:p>
          <a:p>
            <a:pPr lvl="1"/>
            <a:r>
              <a:rPr b="1" lang="zh-TW" sz="1700" spc="-1" strike="noStrike">
                <a:solidFill>
                  <a:schemeClr val="dk1"/>
                </a:solidFill>
                <a:latin typeface="Aptos"/>
              </a:rPr>
              <a:t>Length 欄位與實際 payload 長度不符</a:t>
            </a:r>
          </a:p>
          <a:p>
            <a:pPr lvl="1"/>
            <a:r>
              <a:rPr b="1" lang="zh-TW" sz="1700" spc="-1" strike="noStrike">
                <a:solidFill>
                  <a:schemeClr val="dk1"/>
                </a:solidFill>
                <a:latin typeface="Aptos"/>
              </a:rPr>
              <a:t>payload 超過 Max_Payload_Size 的設定值</a:t>
            </a:r>
          </a:p>
          <a:p>
            <a:pPr lvl="1"/>
            <a:r>
              <a:rPr b="1" lang="zh-TW" sz="1700" spc="-1" strike="noStrike">
                <a:solidFill>
                  <a:schemeClr val="dk1"/>
                </a:solidFill>
                <a:latin typeface="Aptos"/>
              </a:rPr>
              <a:t>讀取請求長度超過 Max_Read_Request_Size</a:t>
            </a:r>
          </a:p>
          <a:p>
            <a:pPr lvl="1"/>
            <a:r>
              <a:rPr b="1" lang="zh-TW" sz="1700" spc="-1" strike="noStrike">
                <a:solidFill>
                  <a:schemeClr val="dk1"/>
                </a:solidFill>
                <a:latin typeface="Aptos"/>
              </a:rPr>
              <a:t>資料跨越 4KB 邊界</a:t>
            </a:r>
          </a:p>
          <a:p>
            <a:pPr lvl="1"/>
            <a:r>
              <a:rPr b="1" lang="zh-TW" sz="1700" spc="-1" strike="noStrike">
                <a:solidFill>
                  <a:schemeClr val="dk1"/>
                </a:solidFill>
                <a:latin typeface="Aptos"/>
              </a:rPr>
              <a:t>Fmt / Type 的組合是保留值</a:t>
            </a:r>
          </a:p>
          <a:p>
            <a:pPr lvl="1"/>
            <a:r>
              <a:rPr b="1" lang="zh-TW" sz="1700" spc="-1" strike="noStrike">
                <a:solidFill>
                  <a:schemeClr val="dk1"/>
                </a:solidFill>
                <a:latin typeface="Aptos"/>
              </a:rPr>
              <a:t>First / Last DW BE 違反規則（例如 3DW 以上出現不連續的位元）</a:t>
            </a:r>
          </a:p>
          <a:p>
            <a:pPr lvl="1"/>
            <a:r>
              <a:rPr b="1" lang="zh-TW" sz="1700" spc="-1" strike="noStrike">
                <a:solidFill>
                  <a:schemeClr val="dk1"/>
                </a:solidFill>
                <a:latin typeface="Aptos"/>
              </a:rPr>
              <a:t>TD = 1 但沒有 ECRC，或 TD = 0 卻多了一個 DW</a:t>
            </a:r>
          </a:p>
          <a:p>
            <a:pPr/>
            <a:r>
              <a:rPr b="1" lang="zh-TW" sz="2000" spc="-1" strike="noStrike">
                <a:solidFill>
                  <a:schemeClr val="dk1"/>
                </a:solidFill>
                <a:latin typeface="Aptos"/>
              </a:rPr>
              <a:t>處理：判為 Fatal，封包直接丟棄，不回 Completion</a:t>
            </a:r>
          </a:p>
          <a:p>
            <a:pPr/>
            <a:r>
              <a:rPr b="1" lang="zh-TW" sz="2000" spc="-1" strike="noStrike">
                <a:solidFill>
                  <a:schemeClr val="dk1"/>
                </a:solidFill>
                <a:latin typeface="Aptos"/>
              </a:rPr>
              <a:t>驗證重點：這是最值得逐條列成測試項的一組條件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Poisoned TLP（EP 位元）</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概念：資料已知有問題，但仍然送出去，讓接收端自己決定怎麼辦</a:t>
            </a:r>
          </a:p>
          <a:p>
            <a:pPr lvl="1"/>
            <a:r>
              <a:rPr b="1" lang="zh-TW" sz="1700" spc="-1" strike="noStrike">
                <a:solidFill>
                  <a:schemeClr val="dk1"/>
                </a:solidFill>
                <a:latin typeface="Aptos"/>
              </a:rPr>
              <a:t>比起直接丟棄，這樣接收端才有機會做出更好的處理</a:t>
            </a:r>
          </a:p>
          <a:p>
            <a:pPr lvl="1"/>
            <a:r>
              <a:rPr b="1" lang="zh-TW" sz="1700" spc="-1" strike="noStrike">
                <a:solidFill>
                  <a:schemeClr val="dk1"/>
                </a:solidFill>
                <a:latin typeface="Aptos"/>
              </a:rPr>
              <a:t>典型來源：來源端的記憶體 ECC 偵測到不可修正的錯誤</a:t>
            </a:r>
          </a:p>
          <a:p>
            <a:pPr/>
            <a:r>
              <a:rPr b="1" lang="zh-TW" sz="2000" spc="-1" strike="noStrike">
                <a:solidFill>
                  <a:schemeClr val="dk1"/>
                </a:solidFill>
                <a:latin typeface="Aptos"/>
              </a:rPr>
              <a:t>標記方式：Header 的 EP 位元設為 1</a:t>
            </a:r>
          </a:p>
          <a:p>
            <a:pPr/>
            <a:r>
              <a:rPr b="1" lang="zh-TW" sz="2000" spc="-1" strike="noStrike">
                <a:solidFill>
                  <a:schemeClr val="dk1"/>
                </a:solidFill>
                <a:latin typeface="Aptos"/>
              </a:rPr>
              <a:t>接收端的處理</a:t>
            </a:r>
          </a:p>
          <a:p>
            <a:pPr lvl="1"/>
            <a:r>
              <a:rPr b="1" lang="zh-TW" sz="1700" spc="-1" strike="noStrike">
                <a:solidFill>
                  <a:schemeClr val="dk1"/>
                </a:solidFill>
                <a:latin typeface="Aptos"/>
              </a:rPr>
              <a:t>判為 Uncorrectable Non-Fatal，記錄 Poisoned TLP Received</a:t>
            </a:r>
          </a:p>
          <a:p>
            <a:pPr lvl="1"/>
            <a:r>
              <a:rPr b="1" lang="zh-TW" sz="1700" spc="-1" strike="noStrike">
                <a:solidFill>
                  <a:schemeClr val="dk1"/>
                </a:solidFill>
                <a:latin typeface="Aptos"/>
              </a:rPr>
              <a:t>資料不得被當作有效資料使用</a:t>
            </a:r>
          </a:p>
          <a:p>
            <a:pPr lvl="1"/>
            <a:r>
              <a:rPr b="1" lang="zh-TW" sz="1700" spc="-1" strike="noStrike">
                <a:solidFill>
                  <a:schemeClr val="dk1"/>
                </a:solidFill>
                <a:latin typeface="Aptos"/>
              </a:rPr>
              <a:t>若是讀取請求的回覆，發起者要把這筆交易當作失敗</a:t>
            </a:r>
          </a:p>
          <a:p>
            <a:pPr/>
            <a:r>
              <a:rPr b="1" lang="zh-TW" sz="2000" spc="-1" strike="noStrike">
                <a:solidFill>
                  <a:schemeClr val="dk1"/>
                </a:solidFill>
                <a:latin typeface="Aptos"/>
              </a:rPr>
              <a:t>容易被忽略的點：Poisoned 的封包仍然是「格式正確」的，不是 Malformed</a:t>
            </a:r>
          </a:p>
          <a:p>
            <a:pPr/>
            <a:r>
              <a:rPr b="1" lang="zh-TW" sz="2000" spc="-1" strike="noStrike">
                <a:solidFill>
                  <a:schemeClr val="dk1"/>
                </a:solidFill>
                <a:latin typeface="Aptos"/>
              </a:rPr>
              <a:t>驗證重點：EP=1 的封包仍要正常通過 CRC 檢查與路由，不能被當成壞封包丟掉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UR 與 CA：兩種拒絕</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UR（Unsupported Request）：我不認得這個請求</a:t>
            </a:r>
          </a:p>
          <a:p>
            <a:pPr lvl="1"/>
            <a:r>
              <a:rPr b="1" lang="zh-TW" sz="1700" spc="-1" strike="noStrike">
                <a:solidFill>
                  <a:schemeClr val="dk1"/>
                </a:solidFill>
                <a:latin typeface="Aptos"/>
              </a:rPr>
              <a:t>位址不落在任何 BAR 範圍內</a:t>
            </a:r>
          </a:p>
          <a:p>
            <a:pPr lvl="1"/>
            <a:r>
              <a:rPr b="1" lang="zh-TW" sz="1700" spc="-1" strike="noStrike">
                <a:solidFill>
                  <a:schemeClr val="dk1"/>
                </a:solidFill>
                <a:latin typeface="Aptos"/>
              </a:rPr>
              <a:t>請求類型不支援（例如對不支援 I/O 的裝置送 I/O 請求）</a:t>
            </a:r>
          </a:p>
          <a:p>
            <a:pPr lvl="1"/>
            <a:r>
              <a:rPr b="1" lang="zh-TW" sz="1700" spc="-1" strike="noStrike">
                <a:solidFill>
                  <a:schemeClr val="dk1"/>
                </a:solidFill>
                <a:latin typeface="Aptos"/>
              </a:rPr>
              <a:t>路由找不到目標裝置</a:t>
            </a:r>
          </a:p>
          <a:p>
            <a:pPr lvl="1"/>
            <a:r>
              <a:rPr b="1" lang="zh-TW" sz="1700" spc="-1" strike="noStrike">
                <a:solidFill>
                  <a:schemeClr val="dk1"/>
                </a:solidFill>
                <a:latin typeface="Aptos"/>
              </a:rPr>
              <a:t>除錯意義：通常是位址配置錯誤，或裝置沒有正確初始化</a:t>
            </a:r>
          </a:p>
          <a:p>
            <a:pPr/>
            <a:r>
              <a:rPr b="1" lang="zh-TW" sz="2000" spc="-1" strike="noStrike">
                <a:solidFill>
                  <a:schemeClr val="dk1"/>
                </a:solidFill>
                <a:latin typeface="Aptos"/>
              </a:rPr>
              <a:t>CA（Completer Abort）：我認得，但我現在無法完成</a:t>
            </a:r>
          </a:p>
          <a:p>
            <a:pPr lvl="1"/>
            <a:r>
              <a:rPr b="1" lang="zh-TW" sz="1700" spc="-1" strike="noStrike">
                <a:solidFill>
                  <a:schemeClr val="dk1"/>
                </a:solidFill>
                <a:latin typeface="Aptos"/>
              </a:rPr>
              <a:t>請求本身合法，但完成方內部狀態不允許</a:t>
            </a:r>
          </a:p>
          <a:p>
            <a:pPr lvl="1"/>
            <a:r>
              <a:rPr b="1" lang="zh-TW" sz="1700" spc="-1" strike="noStrike">
                <a:solidFill>
                  <a:schemeClr val="dk1"/>
                </a:solidFill>
                <a:latin typeface="Aptos"/>
              </a:rPr>
              <a:t>例如存取到被鎖定或已停用的資源</a:t>
            </a:r>
          </a:p>
          <a:p>
            <a:pPr/>
            <a:r>
              <a:rPr b="1" lang="zh-TW" sz="2000" spc="-1" strike="noStrike">
                <a:solidFill>
                  <a:schemeClr val="dk1"/>
                </a:solidFill>
                <a:latin typeface="Aptos"/>
              </a:rPr>
              <a:t>兩者都由 Completion 的 Status 欄位回報，都是 Uncorrectable Non-Fatal</a:t>
            </a:r>
          </a:p>
          <a:p>
            <a:pPr/>
            <a:r>
              <a:rPr b="1" lang="zh-TW" sz="2000" spc="-1" strike="noStrike">
                <a:solidFill>
                  <a:schemeClr val="dk1"/>
                </a:solidFill>
                <a:latin typeface="Aptos"/>
              </a:rPr>
              <a:t>另有 CRS（Configuration Request Retry Status）：我還沒準備好，請稍後再試</a:t>
            </a:r>
          </a:p>
          <a:p>
            <a:pPr lvl="1"/>
            <a:r>
              <a:rPr b="1" lang="zh-TW" sz="1700" spc="-1" strike="noStrike">
                <a:solidFill>
                  <a:schemeClr val="dk1"/>
                </a:solidFill>
                <a:latin typeface="Aptos"/>
              </a:rPr>
              <a:t>只用於配置請求，發起端應重試而非視為錯誤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Completion Timeout</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定義：Non-Posted 請求送出後，在期限內沒有收到對應的 Completion</a:t>
            </a:r>
          </a:p>
          <a:p>
            <a:pPr/>
            <a:r>
              <a:rPr b="1" lang="zh-TW" sz="2000" spc="-1" strike="noStrike">
                <a:solidFill>
                  <a:schemeClr val="dk1"/>
                </a:solidFill>
                <a:latin typeface="Aptos"/>
              </a:rPr>
              <a:t>可程式化的逾時範圍（Device Control 2 暫存器）</a:t>
            </a:r>
          </a:p>
          <a:p>
            <a:pPr lvl="1"/>
            <a:r>
              <a:rPr b="1" lang="zh-TW" sz="1700" spc="-1" strike="noStrike">
                <a:solidFill>
                  <a:schemeClr val="dk1"/>
                </a:solidFill>
                <a:latin typeface="Aptos"/>
              </a:rPr>
              <a:t>預設範圍：50 µs ~ 50 ms</a:t>
            </a:r>
          </a:p>
          <a:p>
            <a:pPr lvl="1"/>
            <a:r>
              <a:rPr b="1" lang="zh-TW" sz="1700" spc="-1" strike="noStrike">
                <a:solidFill>
                  <a:schemeClr val="dk1"/>
                </a:solidFill>
                <a:latin typeface="Aptos"/>
              </a:rPr>
              <a:t>Range A：50 µs ~ 10 ms　Range B：10 ms ~ 250 ms</a:t>
            </a:r>
          </a:p>
          <a:p>
            <a:pPr lvl="1"/>
            <a:r>
              <a:rPr b="1" lang="zh-TW" sz="1700" spc="-1" strike="noStrike">
                <a:solidFill>
                  <a:schemeClr val="dk1"/>
                </a:solidFill>
                <a:latin typeface="Aptos"/>
              </a:rPr>
              <a:t>Range C：250 ms ~ 4 s　Range D：4 s ~ 64 s</a:t>
            </a:r>
          </a:p>
          <a:p>
            <a:pPr lvl="1"/>
            <a:r>
              <a:rPr b="1" lang="zh-TW" sz="1700" spc="-1" strike="noStrike">
                <a:solidFill>
                  <a:schemeClr val="dk1"/>
                </a:solidFill>
                <a:latin typeface="Aptos"/>
              </a:rPr>
              <a:t>裝置可宣告支援哪些範圍，也可整個停用逾時偵測</a:t>
            </a:r>
          </a:p>
          <a:p>
            <a:pPr/>
            <a:r>
              <a:rPr b="1" lang="zh-TW" sz="2000" spc="-1" strike="noStrike">
                <a:solidFill>
                  <a:schemeClr val="dk1"/>
                </a:solidFill>
                <a:latin typeface="Aptos"/>
              </a:rPr>
              <a:t>逾時之後</a:t>
            </a:r>
          </a:p>
          <a:p>
            <a:pPr lvl="1"/>
            <a:r>
              <a:rPr b="1" lang="zh-TW" sz="1700" spc="-1" strike="noStrike">
                <a:solidFill>
                  <a:schemeClr val="dk1"/>
                </a:solidFill>
                <a:latin typeface="Aptos"/>
              </a:rPr>
              <a:t>判為 Uncorrectable Non-Fatal，記錄 Completion Timeout</a:t>
            </a:r>
          </a:p>
          <a:p>
            <a:pPr lvl="1"/>
            <a:r>
              <a:rPr b="1" lang="zh-TW" sz="1700" spc="-1" strike="noStrike">
                <a:solidFill>
                  <a:schemeClr val="dk1"/>
                </a:solidFill>
                <a:latin typeface="Aptos"/>
              </a:rPr>
              <a:t>該 Tag 應被釋放回收，避免 Tag 資源洩漏</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逾時邊界值：剛好在期限內回覆、剛好超過一點</a:t>
            </a:r>
          </a:p>
          <a:p>
            <a:pPr lvl="1"/>
            <a:r>
              <a:rPr b="1" lang="zh-TW" sz="1700" spc="-1" strike="noStrike">
                <a:solidFill>
                  <a:schemeClr val="dk1"/>
                </a:solidFill>
                <a:latin typeface="Aptos"/>
              </a:rPr>
              <a:t>逾時後 Tag 是否正確回收 —— 這是最常見的實作缺陷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錯誤訊息與 AER</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三種 Error Message，用隱式路由送往 Root Complex</a:t>
            </a:r>
          </a:p>
          <a:p>
            <a:pPr lvl="1"/>
            <a:r>
              <a:rPr b="1" lang="zh-TW" sz="1700" spc="-1" strike="noStrike">
                <a:solidFill>
                  <a:schemeClr val="dk1"/>
                </a:solidFill>
                <a:latin typeface="Aptos"/>
              </a:rPr>
              <a:t>ERR_COR：可修正錯誤發生</a:t>
            </a:r>
          </a:p>
          <a:p>
            <a:pPr lvl="1"/>
            <a:r>
              <a:rPr b="1" lang="zh-TW" sz="1700" spc="-1" strike="noStrike">
                <a:solidFill>
                  <a:schemeClr val="dk1"/>
                </a:solidFill>
                <a:latin typeface="Aptos"/>
              </a:rPr>
              <a:t>ERR_NONFATAL：不可修正、非致命</a:t>
            </a:r>
          </a:p>
          <a:p>
            <a:pPr lvl="1"/>
            <a:r>
              <a:rPr b="1" lang="zh-TW" sz="1700" spc="-1" strike="noStrike">
                <a:solidFill>
                  <a:schemeClr val="dk1"/>
                </a:solidFill>
                <a:latin typeface="Aptos"/>
              </a:rPr>
              <a:t>ERR_FATAL：不可修正、致命</a:t>
            </a:r>
          </a:p>
          <a:p>
            <a:pPr lvl="1"/>
            <a:r>
              <a:rPr b="1" lang="zh-TW" sz="1700" spc="-1" strike="noStrike">
                <a:solidFill>
                  <a:schemeClr val="dk1"/>
                </a:solidFill>
                <a:latin typeface="Aptos"/>
              </a:rPr>
              <a:t>是否送出，受 Device Control 的錯誤回報開關控制</a:t>
            </a:r>
          </a:p>
          <a:p>
            <a:pPr/>
            <a:r>
              <a:rPr b="1" lang="zh-TW" sz="2000" spc="-1" strike="noStrike">
                <a:solidFill>
                  <a:schemeClr val="dk1"/>
                </a:solidFill>
                <a:latin typeface="Aptos"/>
              </a:rPr>
              <a:t>AER 能力結構的主要內容</a:t>
            </a:r>
          </a:p>
          <a:p>
            <a:pPr lvl="1"/>
            <a:r>
              <a:rPr b="1" lang="zh-TW" sz="1700" spc="-1" strike="noStrike">
                <a:solidFill>
                  <a:schemeClr val="dk1"/>
                </a:solidFill>
                <a:latin typeface="Aptos"/>
              </a:rPr>
              <a:t>Uncorrectable Error Status / Mask / Severity</a:t>
            </a:r>
          </a:p>
          <a:p>
            <a:pPr lvl="1"/>
            <a:r>
              <a:rPr b="1" lang="zh-TW" sz="1700" spc="-1" strike="noStrike">
                <a:solidFill>
                  <a:schemeClr val="dk1"/>
                </a:solidFill>
                <a:latin typeface="Aptos"/>
              </a:rPr>
              <a:t>Correctable Error Status / Mask</a:t>
            </a:r>
          </a:p>
          <a:p>
            <a:pPr lvl="1"/>
            <a:r>
              <a:rPr b="1" lang="zh-TW" sz="1700" spc="-1" strike="noStrike">
                <a:solidFill>
                  <a:schemeClr val="dk1"/>
                </a:solidFill>
                <a:latin typeface="Aptos"/>
              </a:rPr>
              <a:t>Header Log：出錯封包的表頭（最多 4 DW）—— 除錯最有價值的欄位</a:t>
            </a:r>
          </a:p>
          <a:p>
            <a:pPr lvl="1"/>
            <a:r>
              <a:rPr b="1" lang="zh-TW" sz="1700" spc="-1" strike="noStrike">
                <a:solidFill>
                  <a:schemeClr val="dk1"/>
                </a:solidFill>
                <a:latin typeface="Aptos"/>
              </a:rPr>
              <a:t>Root Error Command / Status、Error Source ID（僅 Root Port）</a:t>
            </a:r>
          </a:p>
          <a:p>
            <a:pPr/>
            <a:r>
              <a:rPr b="1" lang="zh-TW" sz="2000" spc="-1" strike="noStrike">
                <a:solidFill>
                  <a:schemeClr val="dk1"/>
                </a:solidFill>
                <a:latin typeface="Aptos"/>
              </a:rPr>
              <a:t>Mask 的行為：被遮蔽的錯誤仍會設定 Status 位元，但不送訊息、不記錄 Header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錯誤處理的驗證重點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注入面</a:t>
            </a:r>
          </a:p>
          <a:p>
            <a:pPr lvl="1"/>
            <a:r>
              <a:rPr b="1" lang="zh-TW" sz="1700" spc="-1" strike="noStrike">
                <a:solidFill>
                  <a:schemeClr val="dk1"/>
                </a:solidFill>
                <a:latin typeface="Aptos"/>
              </a:rPr>
              <a:t>每一種 Malformed 條件各寫一個注入案例</a:t>
            </a:r>
          </a:p>
          <a:p>
            <a:pPr lvl="1"/>
            <a:r>
              <a:rPr b="1" lang="zh-TW" sz="1700" spc="-1" strike="noStrike">
                <a:solidFill>
                  <a:schemeClr val="dk1"/>
                </a:solidFill>
                <a:latin typeface="Aptos"/>
              </a:rPr>
              <a:t>LCRC / ECRC / DLLP CRC 各自的位元翻轉</a:t>
            </a:r>
          </a:p>
          <a:p>
            <a:pPr lvl="1"/>
            <a:r>
              <a:rPr b="1" lang="zh-TW" sz="1700" spc="-1" strike="noStrike">
                <a:solidFill>
                  <a:schemeClr val="dk1"/>
                </a:solidFill>
                <a:latin typeface="Aptos"/>
              </a:rPr>
              <a:t>EP = 1 的封包在各種 TLP 類型上</a:t>
            </a:r>
          </a:p>
          <a:p>
            <a:pPr lvl="1"/>
            <a:r>
              <a:rPr b="1" lang="zh-TW" sz="1700" spc="-1" strike="noStrike">
                <a:solidFill>
                  <a:schemeClr val="dk1"/>
                </a:solidFill>
                <a:latin typeface="Aptos"/>
              </a:rPr>
              <a:t>不回 Completion 以觸發逾時；回覆延遲落在邊界值</a:t>
            </a:r>
          </a:p>
          <a:p>
            <a:pPr/>
            <a:r>
              <a:rPr b="1" lang="zh-TW" sz="2000" spc="-1" strike="noStrike">
                <a:solidFill>
                  <a:schemeClr val="dk1"/>
                </a:solidFill>
                <a:latin typeface="Aptos"/>
              </a:rPr>
              <a:t>檢查面</a:t>
            </a:r>
          </a:p>
          <a:p>
            <a:pPr lvl="1"/>
            <a:r>
              <a:rPr b="1" lang="zh-TW" sz="1700" spc="-1" strike="noStrike">
                <a:solidFill>
                  <a:schemeClr val="dk1"/>
                </a:solidFill>
                <a:latin typeface="Aptos"/>
              </a:rPr>
              <a:t>嚴重性分類是否正確，且隨 Severity 暫存器改寫而變</a:t>
            </a:r>
          </a:p>
          <a:p>
            <a:pPr lvl="1"/>
            <a:r>
              <a:rPr b="1" lang="zh-TW" sz="1700" spc="-1" strike="noStrike">
                <a:solidFill>
                  <a:schemeClr val="dk1"/>
                </a:solidFill>
                <a:latin typeface="Aptos"/>
              </a:rPr>
              <a:t>Error Message 是否送出、類型是否正確、開關是否生效</a:t>
            </a:r>
          </a:p>
          <a:p>
            <a:pPr lvl="1"/>
            <a:r>
              <a:rPr b="1" lang="zh-TW" sz="1700" spc="-1" strike="noStrike">
                <a:solidFill>
                  <a:schemeClr val="dk1"/>
                </a:solidFill>
                <a:latin typeface="Aptos"/>
              </a:rPr>
              <a:t>Status 位元、Header Log 內容是否正確</a:t>
            </a:r>
          </a:p>
          <a:p>
            <a:pPr lvl="1"/>
            <a:r>
              <a:rPr b="1" lang="zh-TW" sz="1700" spc="-1" strike="noStrike">
                <a:solidFill>
                  <a:schemeClr val="dk1"/>
                </a:solidFill>
                <a:latin typeface="Aptos"/>
              </a:rPr>
              <a:t>Mask 生效時 Status 仍應被設定</a:t>
            </a:r>
          </a:p>
          <a:p>
            <a:pPr/>
            <a:r>
              <a:rPr b="1" lang="zh-TW" sz="2000" spc="-1" strike="noStrike">
                <a:solidFill>
                  <a:schemeClr val="dk1"/>
                </a:solidFill>
                <a:latin typeface="Aptos"/>
              </a:rPr>
              <a:t>資源面</a:t>
            </a:r>
          </a:p>
          <a:p>
            <a:pPr lvl="1"/>
            <a:r>
              <a:rPr b="1" lang="zh-TW" sz="1700" spc="-1" strike="noStrike">
                <a:solidFill>
                  <a:schemeClr val="dk1"/>
                </a:solidFill>
                <a:latin typeface="Aptos"/>
              </a:rPr>
              <a:t>逾時或錯誤之後 Tag、credit、replay buffer 是否正確回收</a:t>
            </a:r>
          </a:p>
          <a:p>
            <a:pPr lvl="1"/>
            <a:r>
              <a:rPr b="1" lang="zh-TW" sz="1700" spc="-1" strike="noStrike">
                <a:solidFill>
                  <a:schemeClr val="dk1"/>
                </a:solidFill>
                <a:latin typeface="Aptos"/>
              </a:rPr>
              <a:t>長時間反覆注入，確認沒有資源洩漏</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二、流量控制 Flow Control</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FC 的三類 credit</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依事務類型分成三類，各自獨立計算，互不共用</a:t>
            </a:r>
          </a:p>
          <a:p>
            <a:pPr lvl="1"/>
            <a:r>
              <a:rPr b="1" lang="zh-TW" sz="1700" spc="-1" strike="noStrike">
                <a:solidFill>
                  <a:schemeClr val="dk1"/>
                </a:solidFill>
                <a:latin typeface="Aptos"/>
              </a:rPr>
              <a:t>P（Posted）：記憶體寫入、Message</a:t>
            </a:r>
          </a:p>
          <a:p>
            <a:pPr lvl="1"/>
            <a:r>
              <a:rPr b="1" lang="zh-TW" sz="1700" spc="-1" strike="noStrike">
                <a:solidFill>
                  <a:schemeClr val="dk1"/>
                </a:solidFill>
                <a:latin typeface="Aptos"/>
              </a:rPr>
              <a:t>NP（Non-Posted）：讀取請求、I/O 與配置請求</a:t>
            </a:r>
          </a:p>
          <a:p>
            <a:pPr lvl="1"/>
            <a:r>
              <a:rPr b="1" lang="zh-TW" sz="1700" spc="-1" strike="noStrike">
                <a:solidFill>
                  <a:schemeClr val="dk1"/>
                </a:solidFill>
                <a:latin typeface="Aptos"/>
              </a:rPr>
              <a:t>CPL（Completion）：完成封包</a:t>
            </a:r>
          </a:p>
          <a:p>
            <a:pPr/>
            <a:r>
              <a:rPr b="1" lang="zh-TW" sz="2000" spc="-1" strike="noStrike">
                <a:solidFill>
                  <a:schemeClr val="dk1"/>
                </a:solidFill>
                <a:latin typeface="Aptos"/>
              </a:rPr>
              <a:t>每一類又分成 Header 與 Data 兩種額度</a:t>
            </a:r>
          </a:p>
          <a:p>
            <a:pPr lvl="1"/>
            <a:r>
              <a:rPr b="1" lang="zh-TW" sz="1700" spc="-1" strike="noStrike">
                <a:solidFill>
                  <a:schemeClr val="dk1"/>
                </a:solidFill>
                <a:latin typeface="Aptos"/>
              </a:rPr>
              <a:t>共六組獨立的計數：PH / PD / NPH / NPD / CPLH / CPLD</a:t>
            </a:r>
          </a:p>
          <a:p>
            <a:pPr/>
            <a:r>
              <a:rPr b="1" lang="zh-TW" sz="2000" spc="-1" strike="noStrike">
                <a:solidFill>
                  <a:schemeClr val="dk1"/>
                </a:solidFill>
                <a:latin typeface="Aptos"/>
              </a:rPr>
              <a:t>為什麼要分開</a:t>
            </a:r>
          </a:p>
          <a:p>
            <a:pPr lvl="1"/>
            <a:r>
              <a:rPr b="1" lang="zh-TW" sz="1700" spc="-1" strike="noStrike">
                <a:solidFill>
                  <a:schemeClr val="dk1"/>
                </a:solidFill>
                <a:latin typeface="Aptos"/>
              </a:rPr>
              <a:t>避免類型之間互相阻塞 —— 這是死結避免的基礎</a:t>
            </a:r>
          </a:p>
          <a:p>
            <a:pPr lvl="1"/>
            <a:r>
              <a:rPr b="1" lang="zh-TW" sz="1700" spc="-1" strike="noStrike">
                <a:solidFill>
                  <a:schemeClr val="dk1"/>
                </a:solidFill>
                <a:latin typeface="Aptos"/>
              </a:rPr>
              <a:t>例如 Completion 塞住不應該讓 Posted 寫入也送不出去</a:t>
            </a:r>
          </a:p>
          <a:p>
            <a:pPr/>
            <a:r>
              <a:rPr b="1" lang="zh-TW" sz="2000" spc="-1" strike="noStrike">
                <a:solidFill>
                  <a:schemeClr val="dk1"/>
                </a:solidFill>
                <a:latin typeface="Aptos"/>
              </a:rPr>
              <a:t>驗證重點：六組要分別驗，特別是「一類用完不應影響其他類」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Credit 的單位與 infinite credit</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單位</a:t>
            </a:r>
          </a:p>
          <a:p>
            <a:pPr lvl="1"/>
            <a:r>
              <a:rPr b="1" lang="zh-TW" sz="1700" spc="-1" strike="noStrike">
                <a:solidFill>
                  <a:schemeClr val="dk1"/>
                </a:solidFill>
                <a:latin typeface="Aptos"/>
              </a:rPr>
              <a:t>Header credit：1 單位 = 1 個 TLP 表頭</a:t>
            </a:r>
          </a:p>
          <a:p>
            <a:pPr lvl="1"/>
            <a:r>
              <a:rPr b="1" lang="zh-TW" sz="1700" spc="-1" strike="noStrike">
                <a:solidFill>
                  <a:schemeClr val="dk1"/>
                </a:solidFill>
                <a:latin typeface="Aptos"/>
              </a:rPr>
              <a:t>Data credit：1 單位 = 4 DW（16 位元組）</a:t>
            </a:r>
          </a:p>
          <a:p>
            <a:pPr lvl="1"/>
            <a:r>
              <a:rPr b="1" lang="zh-TW" sz="1700" spc="-1" strike="noStrike">
                <a:solidFill>
                  <a:schemeClr val="dk1"/>
                </a:solidFill>
                <a:latin typeface="Aptos"/>
              </a:rPr>
              <a:t>不足 4 DW 也算 1 單位 —— 小封包會浪費額度</a:t>
            </a:r>
          </a:p>
          <a:p>
            <a:pPr/>
            <a:r>
              <a:rPr b="1" lang="zh-TW" sz="2000" spc="-1" strike="noStrike">
                <a:solidFill>
                  <a:schemeClr val="dk1"/>
                </a:solidFill>
                <a:latin typeface="Aptos"/>
              </a:rPr>
              <a:t>Infinite credit</a:t>
            </a:r>
          </a:p>
          <a:p>
            <a:pPr lvl="1"/>
            <a:r>
              <a:rPr b="1" lang="zh-TW" sz="1700" spc="-1" strike="noStrike">
                <a:solidFill>
                  <a:schemeClr val="dk1"/>
                </a:solidFill>
                <a:latin typeface="Aptos"/>
              </a:rPr>
              <a:t>初始化時宣告為 0，代表「無限額度」</a:t>
            </a:r>
          </a:p>
          <a:p>
            <a:pPr lvl="1"/>
            <a:r>
              <a:rPr b="1" lang="zh-TW" sz="1700" spc="-1" strike="noStrike">
                <a:solidFill>
                  <a:schemeClr val="dk1"/>
                </a:solidFill>
                <a:latin typeface="Aptos"/>
              </a:rPr>
              <a:t>常見用途：Root Complex 對 Completion 宣告無限額度</a:t>
            </a:r>
          </a:p>
          <a:p>
            <a:pPr lvl="1"/>
            <a:r>
              <a:rPr b="1" lang="zh-TW" sz="1700" spc="-1" strike="noStrike">
                <a:solidFill>
                  <a:schemeClr val="dk1"/>
                </a:solidFill>
                <a:latin typeface="Aptos"/>
              </a:rPr>
              <a:t>一旦宣告為無限，之後就不再送該類型的 UpdateFC</a:t>
            </a:r>
          </a:p>
          <a:p>
            <a:pPr/>
            <a:r>
              <a:rPr b="1" lang="zh-TW" sz="2000" spc="-1" strike="noStrike">
                <a:solidFill>
                  <a:schemeClr val="dk1"/>
                </a:solidFill>
                <a:latin typeface="Aptos"/>
              </a:rPr>
              <a:t>計數欄位寬度</a:t>
            </a:r>
          </a:p>
          <a:p>
            <a:pPr lvl="1"/>
            <a:r>
              <a:rPr b="1" lang="zh-TW" sz="1700" spc="-1" strike="noStrike">
                <a:solidFill>
                  <a:schemeClr val="dk1"/>
                </a:solidFill>
                <a:latin typeface="Aptos"/>
              </a:rPr>
              <a:t>Header：8 位元　Data：12 位元</a:t>
            </a:r>
          </a:p>
          <a:p>
            <a:pPr lvl="1"/>
            <a:r>
              <a:rPr b="1" lang="zh-TW" sz="1700" spc="-1" strike="noStrike">
                <a:solidFill>
                  <a:schemeClr val="dk1"/>
                </a:solidFill>
                <a:latin typeface="Aptos"/>
              </a:rPr>
              <a:t>累計值採模數運算，會回繞 —— 比較大小要用模數比較，不能直接比</a:t>
            </a:r>
          </a:p>
          <a:p>
            <a:pPr/>
            <a:r>
              <a:rPr b="1" lang="zh-TW" sz="2000" spc="-1" strike="noStrike">
                <a:solidFill>
                  <a:schemeClr val="dk1"/>
                </a:solidFill>
                <a:latin typeface="Aptos"/>
              </a:rPr>
              <a:t>驗證重點：回繞邊界、無限額度的宣告與後續行為、小封包的額度消耗</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FC 初始化流程</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時機：鏈路進入 L0 之後、能傳 TLP 之前</a:t>
            </a:r>
          </a:p>
          <a:p>
            <a:pPr lvl="1"/>
            <a:r>
              <a:rPr b="1" lang="zh-TW" sz="1700" spc="-1" strike="noStrike">
                <a:solidFill>
                  <a:schemeClr val="dk1"/>
                </a:solidFill>
                <a:latin typeface="Aptos"/>
              </a:rPr>
              <a:t>資料鏈結層狀態：DL_Inactive → DL_Init → DL_Active</a:t>
            </a:r>
          </a:p>
          <a:p>
            <a:pPr/>
            <a:r>
              <a:rPr b="1" lang="zh-TW" sz="2000" spc="-1" strike="noStrike">
                <a:solidFill>
                  <a:schemeClr val="dk1"/>
                </a:solidFill>
                <a:latin typeface="Aptos"/>
              </a:rPr>
              <a:t>兩個階段</a:t>
            </a:r>
          </a:p>
          <a:p>
            <a:pPr lvl="1"/>
            <a:r>
              <a:rPr b="1" lang="zh-TW" sz="1700" spc="-1" strike="noStrike">
                <a:solidFill>
                  <a:schemeClr val="dk1"/>
                </a:solidFill>
                <a:latin typeface="Aptos"/>
              </a:rPr>
              <a:t>FC_INIT1：雙方各自送出 InitFC1-P、InitFC1-NP、InitFC1-Cpl</a:t>
            </a:r>
          </a:p>
          <a:p>
            <a:pPr lvl="2"/>
            <a:r>
              <a:rPr b="1" lang="zh-TW" sz="1500" spc="-1" strike="noStrike">
                <a:solidFill>
                  <a:schemeClr val="dk1"/>
                </a:solidFill>
                <a:latin typeface="Aptos"/>
              </a:rPr>
              <a:t>重複送出，直到收到對方的全部三種為止</a:t>
            </a:r>
          </a:p>
          <a:p>
            <a:pPr lvl="1"/>
            <a:r>
              <a:rPr b="1" lang="zh-TW" sz="1700" spc="-1" strike="noStrike">
                <a:solidFill>
                  <a:schemeClr val="dk1"/>
                </a:solidFill>
                <a:latin typeface="Aptos"/>
              </a:rPr>
              <a:t>FC_INIT2：雙方送出 InitFC2 三種，確認彼此都已就緒</a:t>
            </a:r>
          </a:p>
          <a:p>
            <a:pPr/>
            <a:r>
              <a:rPr b="1" lang="zh-TW" sz="2000" spc="-1" strike="noStrike">
                <a:solidFill>
                  <a:schemeClr val="dk1"/>
                </a:solidFill>
                <a:latin typeface="Aptos"/>
              </a:rPr>
              <a:t>完成後 DL_Active，才可以開始傳送 TLP</a:t>
            </a:r>
          </a:p>
          <a:p>
            <a:pPr/>
            <a:r>
              <a:rPr b="1" lang="zh-TW" sz="2000" spc="-1" strike="noStrike">
                <a:solidFill>
                  <a:schemeClr val="dk1"/>
                </a:solidFill>
                <a:latin typeface="Aptos"/>
              </a:rPr>
              <a:t>常見的實作陷阱</a:t>
            </a:r>
          </a:p>
          <a:p>
            <a:pPr lvl="1"/>
            <a:r>
              <a:rPr b="1" lang="zh-TW" sz="1700" spc="-1" strike="noStrike">
                <a:solidFill>
                  <a:schemeClr val="dk1"/>
                </a:solidFill>
                <a:latin typeface="Aptos"/>
              </a:rPr>
              <a:t>InitFC1 送出的順序必須是 P → NP → Cpl</a:t>
            </a:r>
          </a:p>
          <a:p>
            <a:pPr lvl="1"/>
            <a:r>
              <a:rPr b="1" lang="zh-TW" sz="1700" spc="-1" strike="noStrike">
                <a:solidFill>
                  <a:schemeClr val="dk1"/>
                </a:solidFill>
                <a:latin typeface="Aptos"/>
              </a:rPr>
              <a:t>在 FC 初始化完成前送出 TLP → 對方應判為錯誤</a:t>
            </a:r>
          </a:p>
          <a:p>
            <a:pPr lvl="1"/>
            <a:r>
              <a:rPr b="1" lang="zh-TW" sz="1700" spc="-1" strike="noStrike">
                <a:solidFill>
                  <a:schemeClr val="dk1"/>
                </a:solidFill>
                <a:latin typeface="Aptos"/>
              </a:rPr>
              <a:t>VC0 一定要初始化；其他 VC 依啟用狀態</a:t>
            </a:r>
          </a:p>
          <a:p>
            <a:pPr/>
            <a:r>
              <a:rPr b="1" lang="zh-TW" sz="2000" spc="-1" strike="noStrike">
                <a:solidFill>
                  <a:schemeClr val="dk1"/>
                </a:solidFill>
                <a:latin typeface="Aptos"/>
              </a:rPr>
              <a:t>驗證重點：初始化未完成就送 TLP、對方遲遲不回應、中途 link down 重來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UpdateFC 與 credit 回收</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接收端處理完封包、釋放緩衝區後，用 UpdateFC DLLP 通知對方</a:t>
            </a:r>
          </a:p>
          <a:p>
            <a:pPr lvl="1"/>
            <a:r>
              <a:rPr b="1" lang="zh-TW" sz="1700" spc="-1" strike="noStrike">
                <a:solidFill>
                  <a:schemeClr val="dk1"/>
                </a:solidFill>
                <a:latin typeface="Aptos"/>
              </a:rPr>
              <a:t>送出的是「累計已釋放的總額」，不是增量</a:t>
            </a:r>
          </a:p>
          <a:p>
            <a:pPr lvl="1"/>
            <a:r>
              <a:rPr b="1" lang="zh-TW" sz="1700" spc="-1" strike="noStrike">
                <a:solidFill>
                  <a:schemeClr val="dk1"/>
                </a:solidFill>
                <a:latin typeface="Aptos"/>
              </a:rPr>
              <a:t>採累計值的好處：即使中途掉了一個 UpdateFC，下一個就補回來了</a:t>
            </a:r>
          </a:p>
          <a:p>
            <a:pPr/>
            <a:r>
              <a:rPr b="1" lang="zh-TW" sz="2000" spc="-1" strike="noStrike">
                <a:solidFill>
                  <a:schemeClr val="dk1"/>
                </a:solidFill>
                <a:latin typeface="Aptos"/>
              </a:rPr>
              <a:t>發送端的判斷</a:t>
            </a:r>
          </a:p>
          <a:p>
            <a:pPr lvl="1"/>
            <a:r>
              <a:rPr b="1" lang="zh-TW" sz="1700" spc="-1" strike="noStrike">
                <a:solidFill>
                  <a:schemeClr val="dk1"/>
                </a:solidFill>
                <a:latin typeface="Aptos"/>
              </a:rPr>
              <a:t>比較「已消耗累計」與「收到的已釋放累計」</a:t>
            </a:r>
          </a:p>
          <a:p>
            <a:pPr lvl="1"/>
            <a:r>
              <a:rPr b="1" lang="zh-TW" sz="1700" spc="-1" strike="noStrike">
                <a:solidFill>
                  <a:schemeClr val="dk1"/>
                </a:solidFill>
                <a:latin typeface="Aptos"/>
              </a:rPr>
              <a:t>差額小於等於額度上限才可以送出</a:t>
            </a:r>
          </a:p>
          <a:p>
            <a:pPr lvl="1"/>
            <a:r>
              <a:rPr b="1" lang="zh-TW" sz="1700" spc="-1" strike="noStrike">
                <a:solidFill>
                  <a:schemeClr val="dk1"/>
                </a:solidFill>
                <a:latin typeface="Aptos"/>
              </a:rPr>
              <a:t>比較必須用模數運算，不可直接比大小</a:t>
            </a:r>
          </a:p>
          <a:p>
            <a:pPr/>
            <a:r>
              <a:rPr b="1" lang="zh-TW" sz="2000" spc="-1" strike="noStrike">
                <a:solidFill>
                  <a:schemeClr val="dk1"/>
                </a:solidFill>
                <a:latin typeface="Aptos"/>
              </a:rPr>
              <a:t>UpdateFC 的送出時機</a:t>
            </a:r>
          </a:p>
          <a:p>
            <a:pPr lvl="1"/>
            <a:r>
              <a:rPr b="1" lang="zh-TW" sz="1700" spc="-1" strike="noStrike">
                <a:solidFill>
                  <a:schemeClr val="dk1"/>
                </a:solidFill>
                <a:latin typeface="Aptos"/>
              </a:rPr>
              <a:t>緩衝區釋放時送出</a:t>
            </a:r>
          </a:p>
          <a:p>
            <a:pPr lvl="1"/>
            <a:r>
              <a:rPr b="1" lang="zh-TW" sz="1700" spc="-1" strike="noStrike">
                <a:solidFill>
                  <a:schemeClr val="dk1"/>
                </a:solidFill>
                <a:latin typeface="Aptos"/>
              </a:rPr>
              <a:t>也有最長間隔規定，即使沒有變化也要定期送</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掉一個 UpdateFC 後系統應能自行恢復</a:t>
            </a:r>
          </a:p>
          <a:p>
            <a:pPr lvl="1"/>
            <a:r>
              <a:rPr b="1" lang="zh-TW" sz="1700" spc="-1" strike="noStrike">
                <a:solidFill>
                  <a:schemeClr val="dk1"/>
                </a:solidFill>
                <a:latin typeface="Aptos"/>
              </a:rPr>
              <a:t>額度耗盡時發送端必須停止送出，而不是硬送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流量控制的驗證重點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初始化</a:t>
            </a:r>
          </a:p>
          <a:p>
            <a:pPr lvl="1"/>
            <a:r>
              <a:rPr b="1" lang="zh-TW" sz="1700" spc="-1" strike="noStrike">
                <a:solidFill>
                  <a:schemeClr val="dk1"/>
                </a:solidFill>
                <a:latin typeface="Aptos"/>
              </a:rPr>
              <a:t>InitFC1 / InitFC2 的順序與重複送出行為</a:t>
            </a:r>
          </a:p>
          <a:p>
            <a:pPr lvl="1"/>
            <a:r>
              <a:rPr b="1" lang="zh-TW" sz="1700" spc="-1" strike="noStrike">
                <a:solidFill>
                  <a:schemeClr val="dk1"/>
                </a:solidFill>
                <a:latin typeface="Aptos"/>
              </a:rPr>
              <a:t>初始化未完成即送 TLP → 應被判為錯誤</a:t>
            </a:r>
          </a:p>
          <a:p>
            <a:pPr lvl="1"/>
            <a:r>
              <a:rPr b="1" lang="zh-TW" sz="1700" spc="-1" strike="noStrike">
                <a:solidFill>
                  <a:schemeClr val="dk1"/>
                </a:solidFill>
                <a:latin typeface="Aptos"/>
              </a:rPr>
              <a:t>鏈路重訓後 credit 是否完整重新初始化</a:t>
            </a:r>
          </a:p>
          <a:p>
            <a:pPr/>
            <a:r>
              <a:rPr b="1" lang="zh-TW" sz="2000" spc="-1" strike="noStrike">
                <a:solidFill>
                  <a:schemeClr val="dk1"/>
                </a:solidFill>
                <a:latin typeface="Aptos"/>
              </a:rPr>
              <a:t>帳目</a:t>
            </a:r>
          </a:p>
          <a:p>
            <a:pPr lvl="1"/>
            <a:r>
              <a:rPr b="1" lang="zh-TW" sz="1700" spc="-1" strike="noStrike">
                <a:solidFill>
                  <a:schemeClr val="dk1"/>
                </a:solidFill>
                <a:latin typeface="Aptos"/>
              </a:rPr>
              <a:t>六組 credit 分別耗盡，確認彼此不互相阻塞</a:t>
            </a:r>
          </a:p>
          <a:p>
            <a:pPr lvl="1"/>
            <a:r>
              <a:rPr b="1" lang="zh-TW" sz="1700" spc="-1" strike="noStrike">
                <a:solidFill>
                  <a:schemeClr val="dk1"/>
                </a:solidFill>
                <a:latin typeface="Aptos"/>
              </a:rPr>
              <a:t>計數回繞邊界（Header 8 bit、Data 12 bit）</a:t>
            </a:r>
          </a:p>
          <a:p>
            <a:pPr lvl="1"/>
            <a:r>
              <a:rPr b="1" lang="zh-TW" sz="1700" spc="-1" strike="noStrike">
                <a:solidFill>
                  <a:schemeClr val="dk1"/>
                </a:solidFill>
                <a:latin typeface="Aptos"/>
              </a:rPr>
              <a:t>小封包（&lt; 4 DW）的額度消耗是否正確計為 1 單位</a:t>
            </a:r>
          </a:p>
          <a:p>
            <a:pPr lvl="1"/>
            <a:r>
              <a:rPr b="1" lang="zh-TW" sz="1700" spc="-1" strike="noStrike">
                <a:solidFill>
                  <a:schemeClr val="dk1"/>
                </a:solidFill>
                <a:latin typeface="Aptos"/>
              </a:rPr>
              <a:t>infinite credit 宣告後不再送 UpdateFC 的行為</a:t>
            </a:r>
          </a:p>
          <a:p>
            <a:pPr/>
            <a:r>
              <a:rPr b="1" lang="zh-TW" sz="2000" spc="-1" strike="noStrike">
                <a:solidFill>
                  <a:schemeClr val="dk1"/>
                </a:solidFill>
                <a:latin typeface="Aptos"/>
              </a:rPr>
              <a:t>例外</a:t>
            </a:r>
          </a:p>
          <a:p>
            <a:pPr lvl="1"/>
            <a:r>
              <a:rPr b="1" lang="zh-TW" sz="1700" spc="-1" strike="noStrike">
                <a:solidFill>
                  <a:schemeClr val="dk1"/>
                </a:solidFill>
                <a:latin typeface="Aptos"/>
              </a:rPr>
              <a:t>掉一個 UpdateFC 後應自行恢復</a:t>
            </a:r>
          </a:p>
          <a:p>
            <a:pPr lvl="1"/>
            <a:r>
              <a:rPr b="1" lang="zh-TW" sz="1700" spc="-1" strike="noStrike">
                <a:solidFill>
                  <a:schemeClr val="dk1"/>
                </a:solidFill>
                <a:latin typeface="Aptos"/>
              </a:rPr>
              <a:t>額度不足時必須停止送出</a:t>
            </a:r>
          </a:p>
          <a:p>
            <a:pPr lvl="1"/>
            <a:r>
              <a:rPr b="1" lang="zh-TW" sz="1700" spc="-1" strike="noStrike">
                <a:solidFill>
                  <a:schemeClr val="dk1"/>
                </a:solidFill>
                <a:latin typeface="Aptos"/>
              </a:rPr>
              <a:t>長時間跑流量後 credit 應回到初始值 —— 洩漏偵測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三、重傳機制與計時器</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Replay buffer 與序號管理</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序號：12 位元，範圍 0 ~ 4095，會回繞</a:t>
            </a:r>
          </a:p>
          <a:p>
            <a:pPr/>
            <a:r>
              <a:rPr b="1" lang="zh-TW" sz="2000" spc="-1" strike="noStrike">
                <a:solidFill>
                  <a:schemeClr val="dk1"/>
                </a:solidFill>
                <a:latin typeface="Aptos"/>
              </a:rPr>
              <a:t>發送端維護的關鍵變數</a:t>
            </a:r>
          </a:p>
          <a:p>
            <a:pPr lvl="1"/>
            <a:r>
              <a:rPr b="1" lang="zh-TW" sz="1700" spc="-1" strike="noStrike">
                <a:solidFill>
                  <a:schemeClr val="dk1"/>
                </a:solidFill>
                <a:latin typeface="Aptos"/>
              </a:rPr>
              <a:t>NEXT_TRANSMIT_SEQ：下一個要送出的封包序號</a:t>
            </a:r>
          </a:p>
          <a:p>
            <a:pPr lvl="1"/>
            <a:r>
              <a:rPr b="1" lang="zh-TW" sz="1700" spc="-1" strike="noStrike">
                <a:solidFill>
                  <a:schemeClr val="dk1"/>
                </a:solidFill>
                <a:latin typeface="Aptos"/>
              </a:rPr>
              <a:t>ACKD_SEQ：對方已確認收到的最大序號</a:t>
            </a:r>
          </a:p>
          <a:p>
            <a:pPr lvl="1"/>
            <a:r>
              <a:rPr b="1" lang="zh-TW" sz="1700" spc="-1" strike="noStrike">
                <a:solidFill>
                  <a:schemeClr val="dk1"/>
                </a:solidFill>
                <a:latin typeface="Aptos"/>
              </a:rPr>
              <a:t>replay buffer 保存所有「已送出但未被確認」的 TLP 副本</a:t>
            </a:r>
          </a:p>
          <a:p>
            <a:pPr/>
            <a:r>
              <a:rPr b="1" lang="zh-TW" sz="2000" spc="-1" strike="noStrike">
                <a:solidFill>
                  <a:schemeClr val="dk1"/>
                </a:solidFill>
                <a:latin typeface="Aptos"/>
              </a:rPr>
              <a:t>流量閘門</a:t>
            </a:r>
          </a:p>
          <a:p>
            <a:pPr lvl="1"/>
            <a:r>
              <a:rPr b="1" lang="zh-TW" sz="1700" spc="-1" strike="noStrike">
                <a:solidFill>
                  <a:schemeClr val="dk1"/>
                </a:solidFill>
                <a:latin typeface="Aptos"/>
              </a:rPr>
              <a:t>當未確認的封包數量過多，發送端必須暫停從事務層取新封包</a:t>
            </a:r>
          </a:p>
          <a:p>
            <a:pPr lvl="1"/>
            <a:r>
              <a:rPr b="1" lang="zh-TW" sz="1700" spc="-1" strike="noStrike">
                <a:solidFill>
                  <a:schemeClr val="dk1"/>
                </a:solidFill>
                <a:latin typeface="Aptos"/>
              </a:rPr>
              <a:t>規格條件：NEXT_TRANSMIT_SEQ − ACKD_SEQ 達到 2048（模數運算）</a:t>
            </a:r>
          </a:p>
          <a:p>
            <a:pPr/>
            <a:r>
              <a:rPr b="1" lang="zh-TW" sz="2000" spc="-1" strike="noStrike">
                <a:solidFill>
                  <a:schemeClr val="dk1"/>
                </a:solidFill>
                <a:latin typeface="Aptos"/>
              </a:rPr>
              <a:t>接收端維護</a:t>
            </a:r>
          </a:p>
          <a:p>
            <a:pPr lvl="1"/>
            <a:r>
              <a:rPr b="1" lang="zh-TW" sz="1700" spc="-1" strike="noStrike">
                <a:solidFill>
                  <a:schemeClr val="dk1"/>
                </a:solidFill>
                <a:latin typeface="Aptos"/>
              </a:rPr>
              <a:t>NEXT_RCV_SEQ：期待收到的下一個序號</a:t>
            </a:r>
          </a:p>
          <a:p>
            <a:pPr lvl="1"/>
            <a:r>
              <a:rPr b="1" lang="zh-TW" sz="1700" spc="-1" strike="noStrike">
                <a:solidFill>
                  <a:schemeClr val="dk1"/>
                </a:solidFill>
                <a:latin typeface="Aptos"/>
              </a:rPr>
              <a:t>序號不連續 → 判為 Bad TLP，回 Nak</a:t>
            </a:r>
          </a:p>
          <a:p>
            <a:pPr/>
            <a:r>
              <a:rPr b="1" lang="zh-TW" sz="2000" spc="-1" strike="noStrike">
                <a:solidFill>
                  <a:schemeClr val="dk1"/>
                </a:solidFill>
                <a:latin typeface="Aptos"/>
              </a:rPr>
              <a:t>驗證重點：序號在 4095 → 0 回繞時的所有比較邏輯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兩個關鍵計時器</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ACKNAK_LATENCY_TIMER（接收端）</a:t>
            </a:r>
          </a:p>
          <a:p>
            <a:pPr lvl="1"/>
            <a:r>
              <a:rPr b="1" lang="zh-TW" sz="1700" spc="-1" strike="noStrike">
                <a:solidFill>
                  <a:schemeClr val="dk1"/>
                </a:solidFill>
                <a:latin typeface="Aptos"/>
              </a:rPr>
              <a:t>收到 TLP 後，最遲要在這個時間內送出 Ack</a:t>
            </a:r>
          </a:p>
          <a:p>
            <a:pPr lvl="1"/>
            <a:r>
              <a:rPr b="1" lang="zh-TW" sz="1700" spc="-1" strike="noStrike">
                <a:solidFill>
                  <a:schemeClr val="dk1"/>
                </a:solidFill>
                <a:latin typeface="Aptos"/>
              </a:rPr>
              <a:t>數值取決於鏈路寬度、速率與 Max_Payload_Size</a:t>
            </a:r>
          </a:p>
          <a:p>
            <a:pPr lvl="1"/>
            <a:r>
              <a:rPr b="1" lang="zh-TW" sz="1700" spc="-1" strike="noStrike">
                <a:solidFill>
                  <a:schemeClr val="dk1"/>
                </a:solidFill>
                <a:latin typeface="Aptos"/>
              </a:rPr>
              <a:t>目的：讓發送端能盡早釋放 replay buffer</a:t>
            </a:r>
          </a:p>
          <a:p>
            <a:pPr/>
            <a:r>
              <a:rPr b="1" lang="zh-TW" sz="2000" spc="-1" strike="noStrike">
                <a:solidFill>
                  <a:schemeClr val="dk1"/>
                </a:solidFill>
                <a:latin typeface="Aptos"/>
              </a:rPr>
              <a:t>REPLAY_TIMER（發送端）</a:t>
            </a:r>
          </a:p>
          <a:p>
            <a:pPr lvl="1"/>
            <a:r>
              <a:rPr b="1" lang="zh-TW" sz="1700" spc="-1" strike="noStrike">
                <a:solidFill>
                  <a:schemeClr val="dk1"/>
                </a:solidFill>
                <a:latin typeface="Aptos"/>
              </a:rPr>
              <a:t>送出 TLP 後開始計時，逾時仍未收到 Ack → 重送整個 replay buffer</a:t>
            </a:r>
          </a:p>
          <a:p>
            <a:pPr lvl="1"/>
            <a:r>
              <a:rPr b="1" lang="zh-TW" sz="1700" spc="-1" strike="noStrike">
                <a:solidFill>
                  <a:schemeClr val="dk1"/>
                </a:solidFill>
                <a:latin typeface="Aptos"/>
              </a:rPr>
              <a:t>數值必須大於 ACKNAK_LATENCY_TIMER，否則會無謂重傳</a:t>
            </a:r>
          </a:p>
          <a:p>
            <a:pPr lvl="1"/>
            <a:r>
              <a:rPr b="1" lang="zh-TW" sz="1700" spc="-1" strike="noStrike">
                <a:solidFill>
                  <a:schemeClr val="dk1"/>
                </a:solidFill>
                <a:latin typeface="Aptos"/>
              </a:rPr>
              <a:t>收到 Ack 或 Nak 時重置</a:t>
            </a:r>
          </a:p>
          <a:p>
            <a:pPr/>
            <a:r>
              <a:rPr b="1" lang="zh-TW" sz="2000" spc="-1" strike="noStrike">
                <a:solidFill>
                  <a:schemeClr val="dk1"/>
                </a:solidFill>
                <a:latin typeface="Aptos"/>
              </a:rPr>
              <a:t>兩者的關係</a:t>
            </a:r>
          </a:p>
          <a:p>
            <a:pPr lvl="1"/>
            <a:r>
              <a:rPr b="1" lang="zh-TW" sz="1700" spc="-1" strike="noStrike">
                <a:solidFill>
                  <a:schemeClr val="dk1"/>
                </a:solidFill>
                <a:latin typeface="Aptos"/>
              </a:rPr>
              <a:t>REPLAY_TIMER 過短 → 對方還來得及回 Ack 就重傳，浪費頻寬</a:t>
            </a:r>
          </a:p>
          <a:p>
            <a:pPr lvl="1"/>
            <a:r>
              <a:rPr b="1" lang="zh-TW" sz="1700" spc="-1" strike="noStrike">
                <a:solidFill>
                  <a:schemeClr val="dk1"/>
                </a:solidFill>
                <a:latin typeface="Aptos"/>
              </a:rPr>
              <a:t>REPLAY_TIMER 過長 → 錯誤恢復變慢，延遲拉高</a:t>
            </a:r>
          </a:p>
          <a:p>
            <a:pPr/>
            <a:r>
              <a:rPr b="1" lang="zh-TW" sz="2000" spc="-1" strike="noStrike">
                <a:solidFill>
                  <a:schemeClr val="dk1"/>
                </a:solidFill>
                <a:latin typeface="Aptos"/>
              </a:rPr>
              <a:t>驗證重點：兩個計時器的邊界值，以及 Ack 剛好在逾時瞬間抵達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重傳失敗與 REPLAY_NUM_ROLLOVER</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重傳不是無限次</a:t>
            </a:r>
          </a:p>
          <a:p>
            <a:pPr lvl="1"/>
            <a:r>
              <a:rPr b="1" lang="zh-TW" sz="1700" spc="-1" strike="noStrike">
                <a:solidFill>
                  <a:schemeClr val="dk1"/>
                </a:solidFill>
                <a:latin typeface="Aptos"/>
              </a:rPr>
              <a:t>每次因逾時或 Nak 而重傳，REPLAY_NUM 加一</a:t>
            </a:r>
          </a:p>
          <a:p>
            <a:pPr lvl="1"/>
            <a:r>
              <a:rPr b="1" lang="zh-TW" sz="1700" spc="-1" strike="noStrike">
                <a:solidFill>
                  <a:schemeClr val="dk1"/>
                </a:solidFill>
                <a:latin typeface="Aptos"/>
              </a:rPr>
              <a:t>成功收到 Ack 時歸零</a:t>
            </a:r>
          </a:p>
          <a:p>
            <a:pPr lvl="1"/>
            <a:r>
              <a:rPr b="1" lang="zh-TW" sz="1700" spc="-1" strike="noStrike">
                <a:solidFill>
                  <a:schemeClr val="dk1"/>
                </a:solidFill>
                <a:latin typeface="Aptos"/>
              </a:rPr>
              <a:t>連續累積到第 4 次（3 次 rollover 之後）→ 判定鏈路有問題</a:t>
            </a:r>
          </a:p>
          <a:p>
            <a:pPr/>
            <a:r>
              <a:rPr b="1" lang="zh-TW" sz="2000" spc="-1" strike="noStrike">
                <a:solidFill>
                  <a:schemeClr val="dk1"/>
                </a:solidFill>
                <a:latin typeface="Aptos"/>
              </a:rPr>
              <a:t>觸發之後的行為</a:t>
            </a:r>
          </a:p>
          <a:p>
            <a:pPr lvl="1"/>
            <a:r>
              <a:rPr b="1" lang="zh-TW" sz="1700" spc="-1" strike="noStrike">
                <a:solidFill>
                  <a:schemeClr val="dk1"/>
                </a:solidFill>
                <a:latin typeface="Aptos"/>
              </a:rPr>
              <a:t>記錄 REPLAY_NUM_ROLLOVER，屬於 Correctable 錯誤</a:t>
            </a:r>
          </a:p>
          <a:p>
            <a:pPr lvl="1"/>
            <a:r>
              <a:rPr b="1" lang="zh-TW" sz="1700" spc="-1" strike="noStrike">
                <a:solidFill>
                  <a:schemeClr val="dk1"/>
                </a:solidFill>
                <a:latin typeface="Aptos"/>
              </a:rPr>
              <a:t>要求 LTSSM 進入 Recovery，重新訓練鏈路</a:t>
            </a:r>
          </a:p>
          <a:p>
            <a:pPr lvl="1"/>
            <a:r>
              <a:rPr b="1" lang="zh-TW" sz="1700" spc="-1" strike="noStrike">
                <a:solidFill>
                  <a:schemeClr val="dk1"/>
                </a:solidFill>
                <a:latin typeface="Aptos"/>
              </a:rPr>
              <a:t>重訓後 credit 與序號都要重新初始化</a:t>
            </a:r>
          </a:p>
          <a:p>
            <a:pPr/>
            <a:r>
              <a:rPr b="1" lang="zh-TW" sz="2000" spc="-1" strike="noStrike">
                <a:solidFill>
                  <a:schemeClr val="dk1"/>
                </a:solidFill>
                <a:latin typeface="Aptos"/>
              </a:rPr>
              <a:t>設計意義：與其一直重傳，不如重建鏈路</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連續注入錯誤直到觸發 rollover，確認確實進 Recovery</a:t>
            </a:r>
          </a:p>
          <a:p>
            <a:pPr lvl="1"/>
            <a:r>
              <a:rPr b="1" lang="zh-TW" sz="1700" spc="-1" strike="noStrike">
                <a:solidFill>
                  <a:schemeClr val="dk1"/>
                </a:solidFill>
                <a:latin typeface="Aptos"/>
              </a:rPr>
              <a:t>重訓之後 replay buffer、序號、credit 是否乾淨重來</a:t>
            </a:r>
          </a:p>
          <a:p>
            <a:pPr lvl="1"/>
            <a:r>
              <a:rPr b="1" lang="zh-TW" sz="1700" spc="-1" strike="noStrike">
                <a:solidFill>
                  <a:schemeClr val="dk1"/>
                </a:solidFill>
                <a:latin typeface="Aptos"/>
              </a:rPr>
              <a:t>第 3 次與第 4 次之間的邊界行為</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DLLP 錯誤與 Nak 的處理</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DLLP 沒有序號、不重傳</a:t>
            </a:r>
          </a:p>
          <a:p>
            <a:pPr lvl="1"/>
            <a:r>
              <a:rPr b="1" lang="zh-TW" sz="1700" spc="-1" strike="noStrike">
                <a:solidFill>
                  <a:schemeClr val="dk1"/>
                </a:solidFill>
                <a:latin typeface="Aptos"/>
              </a:rPr>
              <a:t>CRC16 檢查失敗 → 直接丟棄，記錄 Bad DLLP</a:t>
            </a:r>
          </a:p>
          <a:p>
            <a:pPr lvl="1"/>
            <a:r>
              <a:rPr b="1" lang="zh-TW" sz="1700" spc="-1" strike="noStrike">
                <a:solidFill>
                  <a:schemeClr val="dk1"/>
                </a:solidFill>
                <a:latin typeface="Aptos"/>
              </a:rPr>
              <a:t>可行的原因：Ack 掉了會被 REPLAY_TIMER 救回，UpdateFC 送累計值會自動補正</a:t>
            </a:r>
          </a:p>
          <a:p>
            <a:pPr/>
            <a:r>
              <a:rPr b="1" lang="zh-TW" sz="2000" spc="-1" strike="noStrike">
                <a:solidFill>
                  <a:schemeClr val="dk1"/>
                </a:solidFill>
                <a:latin typeface="Aptos"/>
              </a:rPr>
              <a:t>收到 Nak 的處理</a:t>
            </a:r>
          </a:p>
          <a:p>
            <a:pPr lvl="1"/>
            <a:r>
              <a:rPr b="1" lang="zh-TW" sz="1700" spc="-1" strike="noStrike">
                <a:solidFill>
                  <a:schemeClr val="dk1"/>
                </a:solidFill>
                <a:latin typeface="Aptos"/>
              </a:rPr>
              <a:t>從 Nak 指定的序號之後開始，重送 replay buffer 內所有 TLP</a:t>
            </a:r>
          </a:p>
          <a:p>
            <a:pPr lvl="1"/>
            <a:r>
              <a:rPr b="1" lang="zh-TW" sz="1700" spc="-1" strike="noStrike">
                <a:solidFill>
                  <a:schemeClr val="dk1"/>
                </a:solidFill>
                <a:latin typeface="Aptos"/>
              </a:rPr>
              <a:t>注意是「整批重送」，不是只重送那一個</a:t>
            </a:r>
          </a:p>
          <a:p>
            <a:pPr/>
            <a:r>
              <a:rPr b="1" lang="zh-TW" sz="2000" spc="-1" strike="noStrike">
                <a:solidFill>
                  <a:schemeClr val="dk1"/>
                </a:solidFill>
                <a:latin typeface="Aptos"/>
              </a:rPr>
              <a:t>不合法的 Ack / Nak 序號</a:t>
            </a:r>
          </a:p>
          <a:p>
            <a:pPr lvl="1"/>
            <a:r>
              <a:rPr b="1" lang="zh-TW" sz="1700" spc="-1" strike="noStrike">
                <a:solidFill>
                  <a:schemeClr val="dk1"/>
                </a:solidFill>
                <a:latin typeface="Aptos"/>
              </a:rPr>
              <a:t>確認了從未送出的序號 → Data Link Protocol Error → Fatal</a:t>
            </a:r>
          </a:p>
          <a:p>
            <a:pPr lvl="1"/>
            <a:r>
              <a:rPr b="1" lang="zh-TW" sz="1700" spc="-1" strike="noStrike">
                <a:solidFill>
                  <a:schemeClr val="dk1"/>
                </a:solidFill>
                <a:latin typeface="Aptos"/>
              </a:rPr>
              <a:t>這代表對方狀態機已經錯亂，不能再信任鏈路</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Ack 掉包 → 應由 REPLAY_TIMER 恢復，不應永久卡住</a:t>
            </a:r>
          </a:p>
          <a:p>
            <a:pPr lvl="1"/>
            <a:r>
              <a:rPr b="1" lang="zh-TW" sz="1700" spc="-1" strike="noStrike">
                <a:solidFill>
                  <a:schemeClr val="dk1"/>
                </a:solidFill>
                <a:latin typeface="Aptos"/>
              </a:rPr>
              <a:t>注入不合法的 Ack 序號 → 應判 Fatal 而非默默忽略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四、事務排序規則</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為什麼需要排序規則</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理由一：保證軟體看到的結果符合預期</a:t>
            </a:r>
          </a:p>
          <a:p>
            <a:pPr lvl="1"/>
            <a:r>
              <a:rPr b="1" lang="zh-TW" sz="1700" spc="-1" strike="noStrike">
                <a:solidFill>
                  <a:schemeClr val="dk1"/>
                </a:solidFill>
                <a:latin typeface="Aptos"/>
              </a:rPr>
              <a:t>經典情境 —— 先寫資料到記憶體，再寫一個旗標表示「資料已就緒」</a:t>
            </a:r>
          </a:p>
          <a:p>
            <a:pPr lvl="1"/>
            <a:r>
              <a:rPr b="1" lang="zh-TW" sz="1700" spc="-1" strike="noStrike">
                <a:solidFill>
                  <a:schemeClr val="dk1"/>
                </a:solidFill>
                <a:latin typeface="Aptos"/>
              </a:rPr>
              <a:t>若兩個寫入被重新排序，接收方看到旗標卻讀到舊資料</a:t>
            </a:r>
          </a:p>
          <a:p>
            <a:pPr lvl="1"/>
            <a:r>
              <a:rPr b="1" lang="zh-TW" sz="1700" spc="-1" strike="noStrike">
                <a:solidFill>
                  <a:schemeClr val="dk1"/>
                </a:solidFill>
                <a:latin typeface="Aptos"/>
              </a:rPr>
              <a:t>所以：Posted 不能超越 Posted</a:t>
            </a:r>
          </a:p>
          <a:p>
            <a:pPr/>
            <a:r>
              <a:rPr b="1" lang="zh-TW" sz="2000" spc="-1" strike="noStrike">
                <a:solidFill>
                  <a:schemeClr val="dk1"/>
                </a:solidFill>
                <a:latin typeface="Aptos"/>
              </a:rPr>
              <a:t>理由二：避免死結</a:t>
            </a:r>
          </a:p>
          <a:p>
            <a:pPr lvl="1"/>
            <a:r>
              <a:rPr b="1" lang="zh-TW" sz="1700" spc="-1" strike="noStrike">
                <a:solidFill>
                  <a:schemeClr val="dk1"/>
                </a:solidFill>
                <a:latin typeface="Aptos"/>
              </a:rPr>
              <a:t>若 Posted 被卡在 Non-Posted 後面，而該 Non-Posted 又在等一個需要</a:t>
            </a:r>
          </a:p>
          <a:p>
            <a:pPr lvl="2"/>
            <a:r>
              <a:rPr b="1" lang="zh-TW" sz="1500" spc="-1" strike="noStrike">
                <a:solidFill>
                  <a:schemeClr val="dk1"/>
                </a:solidFill>
                <a:latin typeface="Aptos"/>
              </a:rPr>
              <a:t>先完成的 Posted → 互相等待，鎖死</a:t>
            </a:r>
          </a:p>
          <a:p>
            <a:pPr lvl="1"/>
            <a:r>
              <a:rPr b="1" lang="zh-TW" sz="1700" spc="-1" strike="noStrike">
                <a:solidFill>
                  <a:schemeClr val="dk1"/>
                </a:solidFill>
                <a:latin typeface="Aptos"/>
              </a:rPr>
              <a:t>所以：Posted 必須「能夠」超越 Non-Posted 與 Completion</a:t>
            </a:r>
          </a:p>
          <a:p>
            <a:pPr/>
            <a:r>
              <a:rPr b="1" lang="zh-TW" sz="2000" spc="-1" strike="noStrike">
                <a:solidFill>
                  <a:schemeClr val="dk1"/>
                </a:solidFill>
                <a:latin typeface="Aptos"/>
              </a:rPr>
              <a:t>兩種規則的性質不同</a:t>
            </a:r>
          </a:p>
          <a:p>
            <a:pPr lvl="1"/>
            <a:r>
              <a:rPr b="1" lang="zh-TW" sz="1700" spc="-1" strike="noStrike">
                <a:solidFill>
                  <a:schemeClr val="dk1"/>
                </a:solidFill>
                <a:latin typeface="Aptos"/>
              </a:rPr>
              <a:t>「不能超越」是限制，違反會造成資料錯誤</a:t>
            </a:r>
          </a:p>
          <a:p>
            <a:pPr lvl="1"/>
            <a:r>
              <a:rPr b="1" lang="zh-TW" sz="1700" spc="-1" strike="noStrike">
                <a:solidFill>
                  <a:schemeClr val="dk1"/>
                </a:solidFill>
                <a:latin typeface="Aptos"/>
              </a:rPr>
              <a:t>「必須能超越」是強制要求，做不到會造成死結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排序規則的核心條目</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以下皆指「後到的封包能否超越先到的封包」</a:t>
            </a:r>
          </a:p>
          <a:p>
            <a:pPr/>
            <a:r>
              <a:rPr b="1" lang="zh-TW" sz="2000" spc="-1" strike="noStrike">
                <a:solidFill>
                  <a:schemeClr val="dk1"/>
                </a:solidFill>
                <a:latin typeface="Aptos"/>
              </a:rPr>
              <a:t>必須維持順序（不可超越）</a:t>
            </a:r>
          </a:p>
          <a:p>
            <a:pPr lvl="1"/>
            <a:r>
              <a:rPr b="1" lang="zh-TW" sz="1700" spc="-1" strike="noStrike">
                <a:solidFill>
                  <a:schemeClr val="dk1"/>
                </a:solidFill>
                <a:latin typeface="Aptos"/>
              </a:rPr>
              <a:t>Posted 不可超越 Posted</a:t>
            </a:r>
          </a:p>
          <a:p>
            <a:pPr lvl="1"/>
            <a:r>
              <a:rPr b="1" lang="zh-TW" sz="1700" spc="-1" strike="noStrike">
                <a:solidFill>
                  <a:schemeClr val="dk1"/>
                </a:solidFill>
                <a:latin typeface="Aptos"/>
              </a:rPr>
              <a:t>Non-Posted 不可超越 Posted</a:t>
            </a:r>
          </a:p>
          <a:p>
            <a:pPr lvl="1"/>
            <a:r>
              <a:rPr b="1" lang="zh-TW" sz="1700" spc="-1" strike="noStrike">
                <a:solidFill>
                  <a:schemeClr val="dk1"/>
                </a:solidFill>
                <a:latin typeface="Aptos"/>
              </a:rPr>
              <a:t>Completion 不可超越 Posted（除非 RO = 1）</a:t>
            </a:r>
          </a:p>
          <a:p>
            <a:pPr lvl="1"/>
            <a:r>
              <a:rPr b="1" lang="zh-TW" sz="1700" spc="-1" strike="noStrike">
                <a:solidFill>
                  <a:schemeClr val="dk1"/>
                </a:solidFill>
                <a:latin typeface="Aptos"/>
              </a:rPr>
              <a:t>相同 TC 的 Completion 之間不可重排</a:t>
            </a:r>
          </a:p>
          <a:p>
            <a:pPr/>
            <a:r>
              <a:rPr b="1" lang="zh-TW" sz="2000" spc="-1" strike="noStrike">
                <a:solidFill>
                  <a:schemeClr val="dk1"/>
                </a:solidFill>
                <a:latin typeface="Aptos"/>
              </a:rPr>
              <a:t>必須允許超越（避免死結）</a:t>
            </a:r>
          </a:p>
          <a:p>
            <a:pPr lvl="1"/>
            <a:r>
              <a:rPr b="1" lang="zh-TW" sz="1700" spc="-1" strike="noStrike">
                <a:solidFill>
                  <a:schemeClr val="dk1"/>
                </a:solidFill>
                <a:latin typeface="Aptos"/>
              </a:rPr>
              <a:t>Posted 必須能超越 Non-Posted</a:t>
            </a:r>
          </a:p>
          <a:p>
            <a:pPr lvl="1"/>
            <a:r>
              <a:rPr b="1" lang="zh-TW" sz="1700" spc="-1" strike="noStrike">
                <a:solidFill>
                  <a:schemeClr val="dk1"/>
                </a:solidFill>
                <a:latin typeface="Aptos"/>
              </a:rPr>
              <a:t>Posted 必須能超越 Completion</a:t>
            </a:r>
          </a:p>
          <a:p>
            <a:pPr lvl="1"/>
            <a:r>
              <a:rPr b="1" lang="zh-TW" sz="1700" spc="-1" strike="noStrike">
                <a:solidFill>
                  <a:schemeClr val="dk1"/>
                </a:solidFill>
                <a:latin typeface="Aptos"/>
              </a:rPr>
              <a:t>Completion 必須能超越 Non-Posted</a:t>
            </a:r>
          </a:p>
          <a:p>
            <a:pPr/>
            <a:r>
              <a:rPr b="1" lang="zh-TW" sz="2000" spc="-1" strike="noStrike">
                <a:solidFill>
                  <a:schemeClr val="dk1"/>
                </a:solidFill>
                <a:latin typeface="Aptos"/>
              </a:rPr>
              <a:t>實作可自行決定</a:t>
            </a:r>
          </a:p>
          <a:p>
            <a:pPr lvl="1"/>
            <a:r>
              <a:rPr b="1" lang="zh-TW" sz="1700" spc="-1" strike="noStrike">
                <a:solidFill>
                  <a:schemeClr val="dk1"/>
                </a:solidFill>
                <a:latin typeface="Aptos"/>
              </a:rPr>
              <a:t>Non-Posted 之間、Completion 超越不同 TC 的 Completion</a:t>
            </a:r>
          </a:p>
          <a:p>
            <a:pPr/>
            <a:r>
              <a:rPr b="1" lang="zh-TW" sz="2000" spc="-1" strike="noStrike">
                <a:solidFill>
                  <a:schemeClr val="dk1"/>
                </a:solidFill>
                <a:latin typeface="Aptos"/>
              </a:rPr>
              <a:t>完整交叉表見 spec §2.4.1（Table 2-34）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放寬排序的兩種機制與風險</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Relaxed Ordering（RO，Attr[1]）</a:t>
            </a:r>
          </a:p>
          <a:p>
            <a:pPr lvl="1"/>
            <a:r>
              <a:rPr b="1" lang="zh-TW" sz="1700" spc="-1" strike="noStrike">
                <a:solidFill>
                  <a:schemeClr val="dk1"/>
                </a:solidFill>
                <a:latin typeface="Aptos"/>
              </a:rPr>
              <a:t>允許 Completion 超越先前的 Posted</a:t>
            </a:r>
          </a:p>
          <a:p>
            <a:pPr lvl="1"/>
            <a:r>
              <a:rPr b="1" lang="zh-TW" sz="1700" spc="-1" strike="noStrike">
                <a:solidFill>
                  <a:schemeClr val="dk1"/>
                </a:solidFill>
                <a:latin typeface="Aptos"/>
              </a:rPr>
              <a:t>用途：大量資料搬移，各筆之間沒有相依性</a:t>
            </a:r>
          </a:p>
          <a:p>
            <a:pPr lvl="1"/>
            <a:r>
              <a:rPr b="1" lang="zh-TW" sz="1700" spc="-1" strike="noStrike">
                <a:solidFill>
                  <a:schemeClr val="dk1"/>
                </a:solidFill>
                <a:latin typeface="Aptos"/>
              </a:rPr>
              <a:t>風險：若實際上有相依性，會造成讀到舊資料</a:t>
            </a:r>
          </a:p>
          <a:p>
            <a:pPr/>
            <a:r>
              <a:rPr b="1" lang="zh-TW" sz="2000" spc="-1" strike="noStrike">
                <a:solidFill>
                  <a:schemeClr val="dk1"/>
                </a:solidFill>
                <a:latin typeface="Aptos"/>
              </a:rPr>
              <a:t>ID-Based Ordering（IDO，Attr[2]）</a:t>
            </a:r>
          </a:p>
          <a:p>
            <a:pPr lvl="1"/>
            <a:r>
              <a:rPr b="1" lang="zh-TW" sz="1700" spc="-1" strike="noStrike">
                <a:solidFill>
                  <a:schemeClr val="dk1"/>
                </a:solidFill>
                <a:latin typeface="Aptos"/>
              </a:rPr>
              <a:t>僅放寬「不同來源之間」的順序，同一來源仍維持</a:t>
            </a:r>
          </a:p>
          <a:p>
            <a:pPr lvl="1"/>
            <a:r>
              <a:rPr b="1" lang="zh-TW" sz="1700" spc="-1" strike="noStrike">
                <a:solidFill>
                  <a:schemeClr val="dk1"/>
                </a:solidFill>
                <a:latin typeface="Aptos"/>
              </a:rPr>
              <a:t>比 RO 安全，因為相依性通常存在於同一個來源內部</a:t>
            </a:r>
          </a:p>
          <a:p>
            <a:pPr/>
            <a:r>
              <a:rPr b="1" lang="zh-TW" sz="2000" spc="-1" strike="noStrike">
                <a:solidFill>
                  <a:schemeClr val="dk1"/>
                </a:solidFill>
                <a:latin typeface="Aptos"/>
              </a:rPr>
              <a:t>No Snoop（Attr[0]）</a:t>
            </a:r>
          </a:p>
          <a:p>
            <a:pPr lvl="1"/>
            <a:r>
              <a:rPr b="1" lang="zh-TW" sz="1700" spc="-1" strike="noStrike">
                <a:solidFill>
                  <a:schemeClr val="dk1"/>
                </a:solidFill>
                <a:latin typeface="Aptos"/>
              </a:rPr>
              <a:t>不是排序機制，而是快取一致性：略過對 CPU 快取的窺探</a:t>
            </a:r>
          </a:p>
          <a:p>
            <a:pPr lvl="1"/>
            <a:r>
              <a:rPr b="1" lang="zh-TW" sz="1700" spc="-1" strike="noStrike">
                <a:solidFill>
                  <a:schemeClr val="dk1"/>
                </a:solidFill>
                <a:latin typeface="Aptos"/>
              </a:rPr>
              <a:t>風險：CPU 與裝置看到不同版本的資料</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三個位元的所有組合都要覆蓋</a:t>
            </a:r>
          </a:p>
          <a:p>
            <a:pPr lvl="1"/>
            <a:r>
              <a:rPr b="1" lang="zh-TW" sz="1700" spc="-1" strike="noStrike">
                <a:solidFill>
                  <a:schemeClr val="dk1"/>
                </a:solidFill>
                <a:latin typeface="Aptos"/>
              </a:rPr>
              <a:t>RO = 1 時確實允許重排，RO = 0 時確實不重排</a:t>
            </a:r>
          </a:p>
          <a:p>
            <a:pPr lvl="1"/>
            <a:r>
              <a:rPr b="1" lang="zh-TW" sz="1700" spc="-1" strike="noStrike">
                <a:solidFill>
                  <a:schemeClr val="dk1"/>
                </a:solidFill>
                <a:latin typeface="Aptos"/>
              </a:rPr>
              <a:t>Switch 轉發時不得竄改這三個位元</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排序的驗證重點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正向驗證：該維持的順序有沒有被打亂</a:t>
            </a:r>
          </a:p>
          <a:p>
            <a:pPr lvl="1"/>
            <a:r>
              <a:rPr b="1" lang="zh-TW" sz="1700" spc="-1" strike="noStrike">
                <a:solidFill>
                  <a:schemeClr val="dk1"/>
                </a:solidFill>
                <a:latin typeface="Aptos"/>
              </a:rPr>
              <a:t>連續送出多個 Posted，檢查抵達順序完全一致</a:t>
            </a:r>
          </a:p>
          <a:p>
            <a:pPr lvl="1"/>
            <a:r>
              <a:rPr b="1" lang="zh-TW" sz="1700" spc="-1" strike="noStrike">
                <a:solidFill>
                  <a:schemeClr val="dk1"/>
                </a:solidFill>
                <a:latin typeface="Aptos"/>
              </a:rPr>
              <a:t>Posted 與 Completion 混合，檢查 Completion 沒有超越 Posted</a:t>
            </a:r>
          </a:p>
          <a:p>
            <a:pPr lvl="1"/>
            <a:r>
              <a:rPr b="1" lang="zh-TW" sz="1700" spc="-1" strike="noStrike">
                <a:solidFill>
                  <a:schemeClr val="dk1"/>
                </a:solidFill>
                <a:latin typeface="Aptos"/>
              </a:rPr>
              <a:t>相同 TC 的多筆 Completion，檢查未被重排</a:t>
            </a:r>
          </a:p>
          <a:p>
            <a:pPr/>
            <a:r>
              <a:rPr b="1" lang="zh-TW" sz="2000" spc="-1" strike="noStrike">
                <a:solidFill>
                  <a:schemeClr val="dk1"/>
                </a:solidFill>
                <a:latin typeface="Aptos"/>
              </a:rPr>
              <a:t>反向驗證：該允許的超越有沒有被擋住</a:t>
            </a:r>
          </a:p>
          <a:p>
            <a:pPr lvl="1"/>
            <a:r>
              <a:rPr b="1" lang="zh-TW" sz="1700" spc="-1" strike="noStrike">
                <a:solidFill>
                  <a:schemeClr val="dk1"/>
                </a:solidFill>
                <a:latin typeface="Aptos"/>
              </a:rPr>
              <a:t>刻意讓 Non-Posted 壅塞，確認 Posted 仍能通過</a:t>
            </a:r>
          </a:p>
          <a:p>
            <a:pPr lvl="1"/>
            <a:r>
              <a:rPr b="1" lang="zh-TW" sz="1700" spc="-1" strike="noStrike">
                <a:solidFill>
                  <a:schemeClr val="dk1"/>
                </a:solidFill>
                <a:latin typeface="Aptos"/>
              </a:rPr>
              <a:t>刻意讓 Completion 壅塞，確認 Posted 仍能通過</a:t>
            </a:r>
          </a:p>
          <a:p>
            <a:pPr lvl="1"/>
            <a:r>
              <a:rPr b="1" lang="zh-TW" sz="1700" spc="-1" strike="noStrike">
                <a:solidFill>
                  <a:schemeClr val="dk1"/>
                </a:solidFill>
                <a:latin typeface="Aptos"/>
              </a:rPr>
              <a:t>這一類測試的失敗症狀是「卡住」，不是「資料錯」</a:t>
            </a:r>
          </a:p>
          <a:p>
            <a:pPr/>
            <a:r>
              <a:rPr b="1" lang="zh-TW" sz="2000" spc="-1" strike="noStrike">
                <a:solidFill>
                  <a:schemeClr val="dk1"/>
                </a:solidFill>
                <a:latin typeface="Aptos"/>
              </a:rPr>
              <a:t>屬性驗證</a:t>
            </a:r>
          </a:p>
          <a:p>
            <a:pPr lvl="1"/>
            <a:r>
              <a:rPr b="1" lang="zh-TW" sz="1700" spc="-1" strike="noStrike">
                <a:solidFill>
                  <a:schemeClr val="dk1"/>
                </a:solidFill>
                <a:latin typeface="Aptos"/>
              </a:rPr>
              <a:t>RO / IDO / No Snoop 三位元的八種組合</a:t>
            </a:r>
          </a:p>
          <a:p>
            <a:pPr lvl="1"/>
            <a:r>
              <a:rPr b="1" lang="zh-TW" sz="1700" spc="-1" strike="noStrike">
                <a:solidFill>
                  <a:schemeClr val="dk1"/>
                </a:solidFill>
                <a:latin typeface="Aptos"/>
              </a:rPr>
              <a:t>Switch 轉發前後屬性位元一致</a:t>
            </a:r>
          </a:p>
          <a:p>
            <a:pPr/>
            <a:r>
              <a:rPr b="1" lang="zh-TW" sz="2000" spc="-1" strike="noStrike">
                <a:solidFill>
                  <a:schemeClr val="dk1"/>
                </a:solidFill>
                <a:latin typeface="Aptos"/>
              </a:rPr>
              <a:t>建議：排序 checker 用 scoreboard 記錄送出順序，在接收端逐筆比對</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五、LTSSM 子狀態與 timeout</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Detect 子狀態</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Detect.Quiet</a:t>
            </a:r>
          </a:p>
          <a:p>
            <a:pPr lvl="1"/>
            <a:r>
              <a:rPr b="1" lang="zh-TW" sz="1700" spc="-1" strike="noStrike">
                <a:solidFill>
                  <a:schemeClr val="dk1"/>
                </a:solidFill>
                <a:latin typeface="Aptos"/>
              </a:rPr>
              <a:t>發送端處於 Electrical Idle，速率固定 2.5 GT/s</a:t>
            </a:r>
          </a:p>
          <a:p>
            <a:pPr lvl="1"/>
            <a:r>
              <a:rPr b="1" lang="zh-TW" sz="1700" spc="-1" strike="noStrike">
                <a:solidFill>
                  <a:schemeClr val="dk1"/>
                </a:solidFill>
                <a:latin typeface="Aptos"/>
              </a:rPr>
              <a:t>逾時 12 ms 或偵測到任一 Lane 脫離 Electrical Idle → 進入 Detect.Active</a:t>
            </a:r>
          </a:p>
          <a:p>
            <a:pPr/>
            <a:r>
              <a:rPr b="1" lang="zh-TW" sz="2000" spc="-1" strike="noStrike">
                <a:solidFill>
                  <a:schemeClr val="dk1"/>
                </a:solidFill>
                <a:latin typeface="Aptos"/>
              </a:rPr>
              <a:t>Detect.Active</a:t>
            </a:r>
          </a:p>
          <a:p>
            <a:pPr lvl="1"/>
            <a:r>
              <a:rPr b="1" lang="zh-TW" sz="1700" spc="-1" strike="noStrike">
                <a:solidFill>
                  <a:schemeClr val="dk1"/>
                </a:solidFill>
                <a:latin typeface="Aptos"/>
              </a:rPr>
              <a:t>對 D+ / D− 加壓，量測充電曲線判斷接收端阻抗</a:t>
            </a:r>
          </a:p>
          <a:p>
            <a:pPr lvl="1"/>
            <a:r>
              <a:rPr b="1" lang="zh-TW" sz="1700" spc="-1" strike="noStrike">
                <a:solidFill>
                  <a:schemeClr val="dk1"/>
                </a:solidFill>
                <a:latin typeface="Aptos"/>
              </a:rPr>
              <a:t>偵測到所有 Lane → 進入 Polling</a:t>
            </a:r>
          </a:p>
          <a:p>
            <a:pPr lvl="1"/>
            <a:r>
              <a:rPr b="1" lang="zh-TW" sz="1700" spc="-1" strike="noStrike">
                <a:solidFill>
                  <a:schemeClr val="dk1"/>
                </a:solidFill>
                <a:latin typeface="Aptos"/>
              </a:rPr>
              <a:t>完全沒偵測到 → 回到 Detect.Quiet</a:t>
            </a:r>
          </a:p>
          <a:p>
            <a:pPr lvl="1"/>
            <a:r>
              <a:rPr b="1" lang="zh-TW" sz="1700" spc="-1" strike="noStrike">
                <a:solidFill>
                  <a:schemeClr val="dk1"/>
                </a:solidFill>
                <a:latin typeface="Aptos"/>
              </a:rPr>
              <a:t>只偵測到部分 Lane → 等待後重測，仍不一致則以偵測到的 Lane 繼續</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完全沒有對端裝置時應持續在 Detect 循環，不可誤進 Polling</a:t>
            </a:r>
          </a:p>
          <a:p>
            <a:pPr lvl="1"/>
            <a:r>
              <a:rPr b="1" lang="zh-TW" sz="1700" spc="-1" strike="noStrike">
                <a:solidFill>
                  <a:schemeClr val="dk1"/>
                </a:solidFill>
                <a:latin typeface="Aptos"/>
              </a:rPr>
              <a:t>部分 Lane 存在時的降寬行為</a:t>
            </a:r>
          </a:p>
          <a:p>
            <a:pPr lvl="1"/>
            <a:r>
              <a:rPr b="1" lang="zh-TW" sz="1700" spc="-1" strike="noStrike">
                <a:solidFill>
                  <a:schemeClr val="dk1"/>
                </a:solidFill>
                <a:latin typeface="Aptos"/>
              </a:rPr>
              <a:t>12 ms 逾時的邊界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Polling 子狀態</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Polling.Active</a:t>
            </a:r>
          </a:p>
          <a:p>
            <a:pPr lvl="1"/>
            <a:r>
              <a:rPr b="1" lang="zh-TW" sz="1700" spc="-1" strike="noStrike">
                <a:solidFill>
                  <a:schemeClr val="dk1"/>
                </a:solidFill>
                <a:latin typeface="Aptos"/>
              </a:rPr>
              <a:t>持續送出 TS1，等待對方回應</a:t>
            </a:r>
          </a:p>
          <a:p>
            <a:pPr lvl="1"/>
            <a:r>
              <a:rPr b="1" lang="zh-TW" sz="1700" spc="-1" strike="noStrike">
                <a:solidFill>
                  <a:schemeClr val="dk1"/>
                </a:solidFill>
                <a:latin typeface="Aptos"/>
              </a:rPr>
              <a:t>收到足夠數量的 TS1 或 TS2 → 進入 Polling.Configuration</a:t>
            </a:r>
          </a:p>
          <a:p>
            <a:pPr lvl="1"/>
            <a:r>
              <a:rPr b="1" lang="zh-TW" sz="1700" spc="-1" strike="noStrike">
                <a:solidFill>
                  <a:schemeClr val="dk1"/>
                </a:solidFill>
                <a:latin typeface="Aptos"/>
              </a:rPr>
              <a:t>逾時 24 ms 且條件未滿足 → 進入 Detect（或 Polling.Compliance）</a:t>
            </a:r>
          </a:p>
          <a:p>
            <a:pPr/>
            <a:r>
              <a:rPr b="1" lang="zh-TW" sz="2000" spc="-1" strike="noStrike">
                <a:solidFill>
                  <a:schemeClr val="dk1"/>
                </a:solidFill>
                <a:latin typeface="Aptos"/>
              </a:rPr>
              <a:t>Polling.Configuration</a:t>
            </a:r>
          </a:p>
          <a:p>
            <a:pPr lvl="1"/>
            <a:r>
              <a:rPr b="1" lang="zh-TW" sz="1700" spc="-1" strike="noStrike">
                <a:solidFill>
                  <a:schemeClr val="dk1"/>
                </a:solidFill>
                <a:latin typeface="Aptos"/>
              </a:rPr>
              <a:t>雙方改送 TS2，確認彼此都已完成位元與符號鎖定</a:t>
            </a:r>
          </a:p>
          <a:p>
            <a:pPr lvl="1"/>
            <a:r>
              <a:rPr b="1" lang="zh-TW" sz="1700" spc="-1" strike="noStrike">
                <a:solidFill>
                  <a:schemeClr val="dk1"/>
                </a:solidFill>
                <a:latin typeface="Aptos"/>
              </a:rPr>
              <a:t>收到足夠數量的 TS2 → 進入 Configuration</a:t>
            </a:r>
          </a:p>
          <a:p>
            <a:pPr lvl="1"/>
            <a:r>
              <a:rPr b="1" lang="zh-TW" sz="1700" spc="-1" strike="noStrike">
                <a:solidFill>
                  <a:schemeClr val="dk1"/>
                </a:solidFill>
                <a:latin typeface="Aptos"/>
              </a:rPr>
              <a:t>逾時 48 ms → 回到 Detect</a:t>
            </a:r>
          </a:p>
          <a:p>
            <a:pPr/>
            <a:r>
              <a:rPr b="1" lang="zh-TW" sz="2000" spc="-1" strike="noStrike">
                <a:solidFill>
                  <a:schemeClr val="dk1"/>
                </a:solidFill>
                <a:latin typeface="Aptos"/>
              </a:rPr>
              <a:t>Polling.Compliance</a:t>
            </a:r>
          </a:p>
          <a:p>
            <a:pPr lvl="1"/>
            <a:r>
              <a:rPr b="1" lang="zh-TW" sz="1700" spc="-1" strike="noStrike">
                <a:solidFill>
                  <a:schemeClr val="dk1"/>
                </a:solidFill>
                <a:latin typeface="Aptos"/>
              </a:rPr>
              <a:t>測試用狀態，送出 compliance pattern 供儀器量測</a:t>
            </a:r>
          </a:p>
          <a:p>
            <a:pPr lvl="1"/>
            <a:r>
              <a:rPr b="1" lang="zh-TW" sz="1700" spc="-1" strike="noStrike">
                <a:solidFill>
                  <a:schemeClr val="dk1"/>
                </a:solidFill>
                <a:latin typeface="Aptos"/>
              </a:rPr>
              <a:t>進入條件與速率、Lane 狀態相關，正常運作時不應進入</a:t>
            </a:r>
          </a:p>
          <a:p>
            <a:pPr/>
            <a:r>
              <a:rPr b="1" lang="zh-TW" sz="2000" spc="-1" strike="noStrike">
                <a:solidFill>
                  <a:schemeClr val="dk1"/>
                </a:solidFill>
                <a:latin typeface="Aptos"/>
              </a:rPr>
              <a:t>驗證重點：TS1/TS2 數量門檻、24 ms 與 48 ms 邊界、誤入 Compliance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Configuration 子狀態</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六個子狀態，依序協商鏈路的組成</a:t>
            </a:r>
          </a:p>
          <a:p>
            <a:pPr lvl="1"/>
            <a:r>
              <a:rPr b="1" lang="zh-TW" sz="1700" spc="-1" strike="noStrike">
                <a:solidFill>
                  <a:schemeClr val="dk1"/>
                </a:solidFill>
                <a:latin typeface="Aptos"/>
              </a:rPr>
              <a:t>Linkwidth.Start：決定要用哪些 Lane，由上游埠主導</a:t>
            </a:r>
          </a:p>
          <a:p>
            <a:pPr lvl="1"/>
            <a:r>
              <a:rPr b="1" lang="zh-TW" sz="1700" spc="-1" strike="noStrike">
                <a:solidFill>
                  <a:schemeClr val="dk1"/>
                </a:solidFill>
                <a:latin typeface="Aptos"/>
              </a:rPr>
              <a:t>Linkwidth.Accept：下游埠接受或修改提議的寬度</a:t>
            </a:r>
          </a:p>
          <a:p>
            <a:pPr lvl="1"/>
            <a:r>
              <a:rPr b="1" lang="zh-TW" sz="1700" spc="-1" strike="noStrike">
                <a:solidFill>
                  <a:schemeClr val="dk1"/>
                </a:solidFill>
                <a:latin typeface="Aptos"/>
              </a:rPr>
              <a:t>Lanenum.Wait：等待 Lane 編號的提議</a:t>
            </a:r>
          </a:p>
          <a:p>
            <a:pPr lvl="1"/>
            <a:r>
              <a:rPr b="1" lang="zh-TW" sz="1700" spc="-1" strike="noStrike">
                <a:solidFill>
                  <a:schemeClr val="dk1"/>
                </a:solidFill>
                <a:latin typeface="Aptos"/>
              </a:rPr>
              <a:t>Lanenum.Accept：確認 Lane 編號，必要時做 Lane Reversal</a:t>
            </a:r>
          </a:p>
          <a:p>
            <a:pPr lvl="1"/>
            <a:r>
              <a:rPr b="1" lang="zh-TW" sz="1700" spc="-1" strike="noStrike">
                <a:solidFill>
                  <a:schemeClr val="dk1"/>
                </a:solidFill>
                <a:latin typeface="Aptos"/>
              </a:rPr>
              <a:t>Complete：雙方送出確認用的 TS2</a:t>
            </a:r>
          </a:p>
          <a:p>
            <a:pPr lvl="1"/>
            <a:r>
              <a:rPr b="1" lang="zh-TW" sz="1700" spc="-1" strike="noStrike">
                <a:solidFill>
                  <a:schemeClr val="dk1"/>
                </a:solidFill>
                <a:latin typeface="Aptos"/>
              </a:rPr>
              <a:t>Idle：送出 Idle 資料，準備進入 L0</a:t>
            </a:r>
          </a:p>
          <a:p>
            <a:pPr/>
            <a:r>
              <a:rPr b="1" lang="zh-TW" sz="2000" spc="-1" strike="noStrike">
                <a:solidFill>
                  <a:schemeClr val="dk1"/>
                </a:solidFill>
                <a:latin typeface="Aptos"/>
              </a:rPr>
              <a:t>完成後：進入 L0，LinkUp = 1，資料鏈結層才開始初始化</a:t>
            </a:r>
          </a:p>
          <a:p>
            <a:pPr/>
            <a:r>
              <a:rPr b="1" lang="zh-TW" sz="2000" spc="-1" strike="noStrike">
                <a:solidFill>
                  <a:schemeClr val="dk1"/>
                </a:solidFill>
                <a:latin typeface="Aptos"/>
              </a:rPr>
              <a:t>常見逾時：多數子狀態為 24 ms，逾時回到 Detect</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鏈路寬度降級：x16 提議但只有 x8 可用</a:t>
            </a:r>
          </a:p>
          <a:p>
            <a:pPr lvl="1"/>
            <a:r>
              <a:rPr b="1" lang="zh-TW" sz="1700" spc="-1" strike="noStrike">
                <a:solidFill>
                  <a:schemeClr val="dk1"/>
                </a:solidFill>
                <a:latin typeface="Aptos"/>
              </a:rPr>
              <a:t>Lane Reversal 與極性反轉的組合</a:t>
            </a:r>
          </a:p>
          <a:p>
            <a:pPr lvl="1"/>
            <a:r>
              <a:rPr b="1" lang="zh-TW" sz="1700" spc="-1" strike="noStrike">
                <a:solidFill>
                  <a:schemeClr val="dk1"/>
                </a:solidFill>
                <a:latin typeface="Aptos"/>
              </a:rPr>
              <a:t>協商中途 Lane 掉落的處理</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Recovery 子狀態</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Recovery.RcvrLock</a:t>
            </a:r>
          </a:p>
          <a:p>
            <a:pPr lvl="1"/>
            <a:r>
              <a:rPr b="1" lang="zh-TW" sz="1700" spc="-1" strike="noStrike">
                <a:solidFill>
                  <a:schemeClr val="dk1"/>
                </a:solidFill>
                <a:latin typeface="Aptos"/>
              </a:rPr>
              <a:t>重新取得位元鎖定與符號鎖定，交換 TS1</a:t>
            </a:r>
          </a:p>
          <a:p>
            <a:pPr lvl="1"/>
            <a:r>
              <a:rPr b="1" lang="zh-TW" sz="1700" spc="-1" strike="noStrike">
                <a:solidFill>
                  <a:schemeClr val="dk1"/>
                </a:solidFill>
                <a:latin typeface="Aptos"/>
              </a:rPr>
              <a:t>逾時 24 ms → 依情況回 Detect 或 Configuration</a:t>
            </a:r>
          </a:p>
          <a:p>
            <a:pPr/>
            <a:r>
              <a:rPr b="1" lang="zh-TW" sz="2000" spc="-1" strike="noStrike">
                <a:solidFill>
                  <a:schemeClr val="dk1"/>
                </a:solidFill>
                <a:latin typeface="Aptos"/>
              </a:rPr>
              <a:t>Recovery.RcvrCfg</a:t>
            </a:r>
          </a:p>
          <a:p>
            <a:pPr lvl="1"/>
            <a:r>
              <a:rPr b="1" lang="zh-TW" sz="1700" spc="-1" strike="noStrike">
                <a:solidFill>
                  <a:schemeClr val="dk1"/>
                </a:solidFill>
                <a:latin typeface="Aptos"/>
              </a:rPr>
              <a:t>交換 TS2，確認寬度、Lane 編號、是否要變更速率</a:t>
            </a:r>
          </a:p>
          <a:p>
            <a:pPr/>
            <a:r>
              <a:rPr b="1" lang="zh-TW" sz="2000" spc="-1" strike="noStrike">
                <a:solidFill>
                  <a:schemeClr val="dk1"/>
                </a:solidFill>
                <a:latin typeface="Aptos"/>
              </a:rPr>
              <a:t>Recovery.Speed</a:t>
            </a:r>
          </a:p>
          <a:p>
            <a:pPr lvl="1"/>
            <a:r>
              <a:rPr b="1" lang="zh-TW" sz="1700" spc="-1" strike="noStrike">
                <a:solidFill>
                  <a:schemeClr val="dk1"/>
                </a:solidFill>
                <a:latin typeface="Aptos"/>
              </a:rPr>
              <a:t>雙方進入 Electrical Idle，在靜默期間切換速率</a:t>
            </a:r>
          </a:p>
          <a:p>
            <a:pPr lvl="1"/>
            <a:r>
              <a:rPr b="1" lang="zh-TW" sz="1700" spc="-1" strike="noStrike">
                <a:solidFill>
                  <a:schemeClr val="dk1"/>
                </a:solidFill>
                <a:latin typeface="Aptos"/>
              </a:rPr>
              <a:t>切換後回到 Recovery.RcvrLock 重新鎖定</a:t>
            </a:r>
          </a:p>
          <a:p>
            <a:pPr/>
            <a:r>
              <a:rPr b="1" lang="zh-TW" sz="2000" spc="-1" strike="noStrike">
                <a:solidFill>
                  <a:schemeClr val="dk1"/>
                </a:solidFill>
                <a:latin typeface="Aptos"/>
              </a:rPr>
              <a:t>Recovery.Equalization（Gen3 以上）</a:t>
            </a:r>
          </a:p>
          <a:p>
            <a:pPr lvl="1"/>
            <a:r>
              <a:rPr b="1" lang="zh-TW" sz="1700" spc="-1" strike="noStrike">
                <a:solidFill>
                  <a:schemeClr val="dk1"/>
                </a:solidFill>
                <a:latin typeface="Aptos"/>
              </a:rPr>
              <a:t>首次提速到 8 GT/s 以上時，執行等化流程</a:t>
            </a:r>
          </a:p>
          <a:p>
            <a:pPr/>
            <a:r>
              <a:rPr b="1" lang="zh-TW" sz="2000" spc="-1" strike="noStrike">
                <a:solidFill>
                  <a:schemeClr val="dk1"/>
                </a:solidFill>
                <a:latin typeface="Aptos"/>
              </a:rPr>
              <a:t>Recovery.Idle</a:t>
            </a:r>
          </a:p>
          <a:p>
            <a:pPr lvl="1"/>
            <a:r>
              <a:rPr b="1" lang="zh-TW" sz="1700" spc="-1" strike="noStrike">
                <a:solidFill>
                  <a:schemeClr val="dk1"/>
                </a:solidFill>
                <a:latin typeface="Aptos"/>
              </a:rPr>
              <a:t>一切就緒，回到 L0</a:t>
            </a:r>
          </a:p>
          <a:p>
            <a:pPr/>
            <a:r>
              <a:rPr b="1" lang="zh-TW" sz="2000" spc="-1" strike="noStrike">
                <a:solidFill>
                  <a:schemeClr val="dk1"/>
                </a:solidFill>
                <a:latin typeface="Aptos"/>
              </a:rPr>
              <a:t>驗證重點：速率切換的所有起訖組合、等化失敗的回退行為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Equalization 的四個 Phase</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目的：8 GT/s 以上，靠調整發送端 FFE 係數補償通道失真</a:t>
            </a:r>
          </a:p>
          <a:p>
            <a:pPr/>
            <a:r>
              <a:rPr b="1" lang="zh-TW" sz="2000" spc="-1" strike="noStrike">
                <a:solidFill>
                  <a:schemeClr val="dk1"/>
                </a:solidFill>
                <a:latin typeface="Aptos"/>
              </a:rPr>
              <a:t>Phase 0</a:t>
            </a:r>
          </a:p>
          <a:p>
            <a:pPr lvl="1"/>
            <a:r>
              <a:rPr b="1" lang="zh-TW" sz="1700" spc="-1" strike="noStrike">
                <a:solidFill>
                  <a:schemeClr val="dk1"/>
                </a:solidFill>
                <a:latin typeface="Aptos"/>
              </a:rPr>
              <a:t>下游埠取得上游埠給的初始發送設定（透過 EQ TS2）</a:t>
            </a:r>
          </a:p>
          <a:p>
            <a:pPr/>
            <a:r>
              <a:rPr b="1" lang="zh-TW" sz="2000" spc="-1" strike="noStrike">
                <a:solidFill>
                  <a:schemeClr val="dk1"/>
                </a:solidFill>
                <a:latin typeface="Aptos"/>
              </a:rPr>
              <a:t>Phase 1</a:t>
            </a:r>
          </a:p>
          <a:p>
            <a:pPr lvl="1"/>
            <a:r>
              <a:rPr b="1" lang="zh-TW" sz="1700" spc="-1" strike="noStrike">
                <a:solidFill>
                  <a:schemeClr val="dk1"/>
                </a:solidFill>
                <a:latin typeface="Aptos"/>
              </a:rPr>
              <a:t>雙方確認彼此都能以目標速率可靠接收，建立調整的基礎</a:t>
            </a:r>
          </a:p>
          <a:p>
            <a:pPr/>
            <a:r>
              <a:rPr b="1" lang="zh-TW" sz="2000" spc="-1" strike="noStrike">
                <a:solidFill>
                  <a:schemeClr val="dk1"/>
                </a:solidFill>
                <a:latin typeface="Aptos"/>
              </a:rPr>
              <a:t>Phase 2</a:t>
            </a:r>
          </a:p>
          <a:p>
            <a:pPr lvl="1"/>
            <a:r>
              <a:rPr b="1" lang="zh-TW" sz="1700" spc="-1" strike="noStrike">
                <a:solidFill>
                  <a:schemeClr val="dk1"/>
                </a:solidFill>
                <a:latin typeface="Aptos"/>
              </a:rPr>
              <a:t>下游埠評估收到的訊號，要求上游埠調整其發送係數</a:t>
            </a:r>
          </a:p>
          <a:p>
            <a:pPr/>
            <a:r>
              <a:rPr b="1" lang="zh-TW" sz="2000" spc="-1" strike="noStrike">
                <a:solidFill>
                  <a:schemeClr val="dk1"/>
                </a:solidFill>
                <a:latin typeface="Aptos"/>
              </a:rPr>
              <a:t>Phase 3</a:t>
            </a:r>
          </a:p>
          <a:p>
            <a:pPr lvl="1"/>
            <a:r>
              <a:rPr b="1" lang="zh-TW" sz="1700" spc="-1" strike="noStrike">
                <a:solidFill>
                  <a:schemeClr val="dk1"/>
                </a:solidFill>
                <a:latin typeface="Aptos"/>
              </a:rPr>
              <a:t>反過來，上游埠要求下游埠調整發送係數</a:t>
            </a:r>
          </a:p>
          <a:p>
            <a:pPr/>
            <a:r>
              <a:rPr b="1" lang="zh-TW" sz="2000" spc="-1" strike="noStrike">
                <a:solidFill>
                  <a:schemeClr val="dk1"/>
                </a:solidFill>
                <a:latin typeface="Aptos"/>
              </a:rPr>
              <a:t>調整方式：指定 Preset（粗調、快）或直接指定係數（細調、可能不收斂）</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每個 Phase 的逾時與失敗回退</a:t>
            </a:r>
          </a:p>
          <a:p>
            <a:pPr lvl="1"/>
            <a:r>
              <a:rPr b="1" lang="zh-TW" sz="1700" spc="-1" strike="noStrike">
                <a:solidFill>
                  <a:schemeClr val="dk1"/>
                </a:solidFill>
                <a:latin typeface="Aptos"/>
              </a:rPr>
              <a:t>係數超出合法範圍時的拒絕行為</a:t>
            </a:r>
          </a:p>
          <a:p>
            <a:pPr lvl="1"/>
            <a:r>
              <a:rPr b="1" lang="zh-TW" sz="1700" spc="-1" strike="noStrike">
                <a:solidFill>
                  <a:schemeClr val="dk1"/>
                </a:solidFill>
                <a:latin typeface="Aptos"/>
              </a:rPr>
              <a:t>等化結果應被保存，之後重進 L0 不需重做完整流程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LTSSM 常見 timeout 一覽</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訓練階段</a:t>
            </a:r>
          </a:p>
          <a:p>
            <a:pPr lvl="1"/>
            <a:r>
              <a:rPr b="1" lang="zh-TW" sz="1700" spc="-1" strike="noStrike">
                <a:solidFill>
                  <a:schemeClr val="dk1"/>
                </a:solidFill>
                <a:latin typeface="Aptos"/>
              </a:rPr>
              <a:t>Detect.Quiet：12 ms</a:t>
            </a:r>
          </a:p>
          <a:p>
            <a:pPr lvl="1"/>
            <a:r>
              <a:rPr b="1" lang="zh-TW" sz="1700" spc="-1" strike="noStrike">
                <a:solidFill>
                  <a:schemeClr val="dk1"/>
                </a:solidFill>
                <a:latin typeface="Aptos"/>
              </a:rPr>
              <a:t>Polling.Active：24 ms</a:t>
            </a:r>
          </a:p>
          <a:p>
            <a:pPr lvl="1"/>
            <a:r>
              <a:rPr b="1" lang="zh-TW" sz="1700" spc="-1" strike="noStrike">
                <a:solidFill>
                  <a:schemeClr val="dk1"/>
                </a:solidFill>
                <a:latin typeface="Aptos"/>
              </a:rPr>
              <a:t>Polling.Configuration：48 ms</a:t>
            </a:r>
          </a:p>
          <a:p>
            <a:pPr lvl="1"/>
            <a:r>
              <a:rPr b="1" lang="zh-TW" sz="1700" spc="-1" strike="noStrike">
                <a:solidFill>
                  <a:schemeClr val="dk1"/>
                </a:solidFill>
                <a:latin typeface="Aptos"/>
              </a:rPr>
              <a:t>Configuration 各子狀態：多為 24 ms</a:t>
            </a:r>
          </a:p>
          <a:p>
            <a:pPr lvl="1"/>
            <a:r>
              <a:rPr b="1" lang="zh-TW" sz="1700" spc="-1" strike="noStrike">
                <a:solidFill>
                  <a:schemeClr val="dk1"/>
                </a:solidFill>
                <a:latin typeface="Aptos"/>
              </a:rPr>
              <a:t>Recovery.RcvrLock：24 ms</a:t>
            </a:r>
          </a:p>
          <a:p>
            <a:pPr/>
            <a:r>
              <a:rPr b="1" lang="zh-TW" sz="2000" spc="-1" strike="noStrike">
                <a:solidFill>
                  <a:schemeClr val="dk1"/>
                </a:solidFill>
                <a:latin typeface="Aptos"/>
              </a:rPr>
              <a:t>其他常引用的時間</a:t>
            </a:r>
          </a:p>
          <a:p>
            <a:pPr lvl="1"/>
            <a:r>
              <a:rPr b="1" lang="zh-TW" sz="1700" spc="-1" strike="noStrike">
                <a:solidFill>
                  <a:schemeClr val="dk1"/>
                </a:solidFill>
                <a:latin typeface="Aptos"/>
              </a:rPr>
              <a:t>進入 L0s 後的最短停留時間、FTS 數量（N_FTS）</a:t>
            </a:r>
          </a:p>
          <a:p>
            <a:pPr lvl="1"/>
            <a:r>
              <a:rPr b="1" lang="zh-TW" sz="1700" spc="-1" strike="noStrike">
                <a:solidFill>
                  <a:schemeClr val="dk1"/>
                </a:solidFill>
                <a:latin typeface="Aptos"/>
              </a:rPr>
              <a:t>L1 進入與退出的協商時間</a:t>
            </a:r>
          </a:p>
          <a:p>
            <a:pPr/>
            <a:r>
              <a:rPr b="1" lang="zh-TW" sz="2000" spc="-1" strike="noStrike">
                <a:solidFill>
                  <a:schemeClr val="dk1"/>
                </a:solidFill>
                <a:latin typeface="Aptos"/>
              </a:rPr>
              <a:t>注意事項</a:t>
            </a:r>
          </a:p>
          <a:p>
            <a:pPr lvl="1"/>
            <a:r>
              <a:rPr b="1" lang="zh-TW" sz="1700" spc="-1" strike="noStrike">
                <a:solidFill>
                  <a:schemeClr val="dk1"/>
                </a:solidFill>
                <a:latin typeface="Aptos"/>
              </a:rPr>
              <a:t>不同版本規格的數值可能微調，實作前務必對照目標版本</a:t>
            </a:r>
          </a:p>
          <a:p>
            <a:pPr lvl="1"/>
            <a:r>
              <a:rPr b="1" lang="zh-TW" sz="1700" spc="-1" strike="noStrike">
                <a:solidFill>
                  <a:schemeClr val="dk1"/>
                </a:solidFill>
                <a:latin typeface="Aptos"/>
              </a:rPr>
              <a:t>部分數值與速率、Lane 數相關，不是單一常數</a:t>
            </a:r>
          </a:p>
          <a:p>
            <a:pPr/>
            <a:r>
              <a:rPr b="1" lang="zh-TW" sz="2000" spc="-1" strike="noStrike">
                <a:solidFill>
                  <a:schemeClr val="dk1"/>
                </a:solidFill>
                <a:latin typeface="Aptos"/>
              </a:rPr>
              <a:t>驗證重點：每個 timeout 都測「剛好之前」與「剛好之後」兩個邊界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LTSSM 的驗證重點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狀態涵蓋</a:t>
            </a:r>
          </a:p>
          <a:p>
            <a:pPr lvl="1"/>
            <a:r>
              <a:rPr b="1" lang="zh-TW" sz="1700" spc="-1" strike="noStrike">
                <a:solidFill>
                  <a:schemeClr val="dk1"/>
                </a:solidFill>
                <a:latin typeface="Aptos"/>
              </a:rPr>
              <a:t>所有主狀態與子狀態都要被進入過 —— 做成 state coverage</a:t>
            </a:r>
          </a:p>
          <a:p>
            <a:pPr lvl="1"/>
            <a:r>
              <a:rPr b="1" lang="zh-TW" sz="1700" spc="-1" strike="noStrike">
                <a:solidFill>
                  <a:schemeClr val="dk1"/>
                </a:solidFill>
                <a:latin typeface="Aptos"/>
              </a:rPr>
              <a:t>狀態轉移也要覆蓋，包含失敗路徑的轉移</a:t>
            </a:r>
          </a:p>
          <a:p>
            <a:pPr/>
            <a:r>
              <a:rPr b="1" lang="zh-TW" sz="2000" spc="-1" strike="noStrike">
                <a:solidFill>
                  <a:schemeClr val="dk1"/>
                </a:solidFill>
                <a:latin typeface="Aptos"/>
              </a:rPr>
              <a:t>情境測試</a:t>
            </a:r>
          </a:p>
          <a:p>
            <a:pPr lvl="1"/>
            <a:r>
              <a:rPr b="1" lang="zh-TW" sz="1700" spc="-1" strike="noStrike">
                <a:solidFill>
                  <a:schemeClr val="dk1"/>
                </a:solidFill>
                <a:latin typeface="Aptos"/>
              </a:rPr>
              <a:t>對端不存在、對端中途消失（Surprise Down）</a:t>
            </a:r>
          </a:p>
          <a:p>
            <a:pPr lvl="1"/>
            <a:r>
              <a:rPr b="1" lang="zh-TW" sz="1700" spc="-1" strike="noStrike">
                <a:solidFill>
                  <a:schemeClr val="dk1"/>
                </a:solidFill>
                <a:latin typeface="Aptos"/>
              </a:rPr>
              <a:t>鏈路寬度降級、Lane Reversal、極性反轉的各種組合</a:t>
            </a:r>
          </a:p>
          <a:p>
            <a:pPr lvl="1"/>
            <a:r>
              <a:rPr b="1" lang="zh-TW" sz="1700" spc="-1" strike="noStrike">
                <a:solidFill>
                  <a:schemeClr val="dk1"/>
                </a:solidFill>
                <a:latin typeface="Aptos"/>
              </a:rPr>
              <a:t>速率升降的所有起訖組合</a:t>
            </a:r>
          </a:p>
          <a:p>
            <a:pPr lvl="1"/>
            <a:r>
              <a:rPr b="1" lang="zh-TW" sz="1700" spc="-1" strike="noStrike">
                <a:solidFill>
                  <a:schemeClr val="dk1"/>
                </a:solidFill>
                <a:latin typeface="Aptos"/>
              </a:rPr>
              <a:t>訓練中途注入錯誤，確認能正確回退而非卡死</a:t>
            </a:r>
          </a:p>
          <a:p>
            <a:pPr/>
            <a:r>
              <a:rPr b="1" lang="zh-TW" sz="2000" spc="-1" strike="noStrike">
                <a:solidFill>
                  <a:schemeClr val="dk1"/>
                </a:solidFill>
                <a:latin typeface="Aptos"/>
              </a:rPr>
              <a:t>與上層的介面</a:t>
            </a:r>
          </a:p>
          <a:p>
            <a:pPr lvl="1"/>
            <a:r>
              <a:rPr b="1" lang="zh-TW" sz="1700" spc="-1" strike="noStrike">
                <a:solidFill>
                  <a:schemeClr val="dk1"/>
                </a:solidFill>
                <a:latin typeface="Aptos"/>
              </a:rPr>
              <a:t>LinkUp 訊號的時序 —— 太早拉起會讓資料鏈結層搶跑</a:t>
            </a:r>
          </a:p>
          <a:p>
            <a:pPr lvl="1"/>
            <a:r>
              <a:rPr b="1" lang="zh-TW" sz="1700" spc="-1" strike="noStrike">
                <a:solidFill>
                  <a:schemeClr val="dk1"/>
                </a:solidFill>
                <a:latin typeface="Aptos"/>
              </a:rPr>
              <a:t>進入 Recovery 時上層是否正確暫停</a:t>
            </a:r>
          </a:p>
          <a:p>
            <a:pPr lvl="1"/>
            <a:r>
              <a:rPr b="1" lang="zh-TW" sz="1700" spc="-1" strike="noStrike">
                <a:solidFill>
                  <a:schemeClr val="dk1"/>
                </a:solidFill>
                <a:latin typeface="Aptos"/>
              </a:rPr>
              <a:t>重訓後 credit 與序號是否重新初始化</a:t>
            </a:r>
          </a:p>
          <a:p>
            <a:pPr/>
            <a:r>
              <a:rPr b="1" lang="zh-TW" sz="2000" spc="-1" strike="noStrike">
                <a:solidFill>
                  <a:schemeClr val="dk1"/>
                </a:solidFill>
                <a:latin typeface="Aptos"/>
              </a:rPr>
              <a:t>建議：LTSSM 的 state / transition coverage 是這一章最有價值的產出</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六、暫存器屬性與 register test</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暫存器屬性一覽</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RO（Read Only）：唯讀，寫入無效</a:t>
            </a:r>
          </a:p>
          <a:p>
            <a:pPr lvl="1"/>
            <a:r>
              <a:rPr b="1" lang="zh-TW" sz="1700" spc="-1" strike="noStrike">
                <a:solidFill>
                  <a:schemeClr val="dk1"/>
                </a:solidFill>
                <a:latin typeface="Aptos"/>
              </a:rPr>
              <a:t>檢查：寫入任意值後讀回應維持原值</a:t>
            </a:r>
          </a:p>
          <a:p>
            <a:pPr/>
            <a:r>
              <a:rPr b="1" lang="zh-TW" sz="2000" spc="-1" strike="noStrike">
                <a:solidFill>
                  <a:schemeClr val="dk1"/>
                </a:solidFill>
                <a:latin typeface="Aptos"/>
              </a:rPr>
              <a:t>RW（Read Write）：可讀可寫</a:t>
            </a:r>
          </a:p>
          <a:p>
            <a:pPr lvl="1"/>
            <a:r>
              <a:rPr b="1" lang="zh-TW" sz="1700" spc="-1" strike="noStrike">
                <a:solidFill>
                  <a:schemeClr val="dk1"/>
                </a:solidFill>
                <a:latin typeface="Aptos"/>
              </a:rPr>
              <a:t>檢查：走訪測試 —— 全 0、全 1、交錯位元、隨機值</a:t>
            </a:r>
          </a:p>
          <a:p>
            <a:pPr/>
            <a:r>
              <a:rPr b="1" lang="zh-TW" sz="2000" spc="-1" strike="noStrike">
                <a:solidFill>
                  <a:schemeClr val="dk1"/>
                </a:solidFill>
                <a:latin typeface="Aptos"/>
              </a:rPr>
              <a:t>RW1C（Write 1 to Clear）：寫 1 清除，寫 0 無效</a:t>
            </a:r>
          </a:p>
          <a:p>
            <a:pPr lvl="1"/>
            <a:r>
              <a:rPr b="1" lang="zh-TW" sz="1700" spc="-1" strike="noStrike">
                <a:solidFill>
                  <a:schemeClr val="dk1"/>
                </a:solidFill>
                <a:latin typeface="Aptos"/>
              </a:rPr>
              <a:t>狀態位元幾乎都是這一類</a:t>
            </a:r>
          </a:p>
          <a:p>
            <a:pPr lvl="1"/>
            <a:r>
              <a:rPr b="1" lang="zh-TW" sz="1700" spc="-1" strike="noStrike">
                <a:solidFill>
                  <a:schemeClr val="dk1"/>
                </a:solidFill>
                <a:latin typeface="Aptos"/>
              </a:rPr>
              <a:t>檢查：寫 0 不應清除；寫 1 應清除；清除後不應自行復位</a:t>
            </a:r>
          </a:p>
          <a:p>
            <a:pPr/>
            <a:r>
              <a:rPr b="1" lang="zh-TW" sz="2000" spc="-1" strike="noStrike">
                <a:solidFill>
                  <a:schemeClr val="dk1"/>
                </a:solidFill>
                <a:latin typeface="Aptos"/>
              </a:rPr>
              <a:t>RsvdP（Reserved, Preserve）：保留，軟體應讀取後原樣寫回</a:t>
            </a:r>
          </a:p>
          <a:p>
            <a:pPr/>
            <a:r>
              <a:rPr b="1" lang="zh-TW" sz="2000" spc="-1" strike="noStrike">
                <a:solidFill>
                  <a:schemeClr val="dk1"/>
                </a:solidFill>
                <a:latin typeface="Aptos"/>
              </a:rPr>
              <a:t>RsvdZ（Reserved, Zero）：保留，軟體寫入時應為 0</a:t>
            </a:r>
          </a:p>
          <a:p>
            <a:pPr/>
            <a:r>
              <a:rPr b="1" lang="zh-TW" sz="2000" spc="-1" strike="noStrike">
                <a:solidFill>
                  <a:schemeClr val="dk1"/>
                </a:solidFill>
                <a:latin typeface="Aptos"/>
              </a:rPr>
              <a:t>HwInit：硬體初始化，之後為唯讀</a:t>
            </a:r>
          </a:p>
          <a:p>
            <a:pPr lvl="1"/>
            <a:r>
              <a:rPr b="1" lang="zh-TW" sz="1700" spc="-1" strike="noStrike">
                <a:solidFill>
                  <a:schemeClr val="dk1"/>
                </a:solidFill>
                <a:latin typeface="Aptos"/>
              </a:rPr>
              <a:t>常見於由 strap 或 EEPROM 載入的識別資訊</a:t>
            </a:r>
          </a:p>
          <a:p>
            <a:pPr/>
            <a:r>
              <a:rPr b="1" lang="zh-TW" sz="2000" spc="-1" strike="noStrike">
                <a:solidFill>
                  <a:schemeClr val="dk1"/>
                </a:solidFill>
                <a:latin typeface="Aptos"/>
              </a:rPr>
              <a:t>Sticky（ROS / RWS / RW1CS）：除非完全斷電，否則 Reset 不清除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Sticky 與 HwInit 的特殊性</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Sticky 位元的意義</a:t>
            </a:r>
          </a:p>
          <a:p>
            <a:pPr lvl="1"/>
            <a:r>
              <a:rPr b="1" lang="zh-TW" sz="1700" spc="-1" strike="noStrike">
                <a:solidFill>
                  <a:schemeClr val="dk1"/>
                </a:solidFill>
                <a:latin typeface="Aptos"/>
              </a:rPr>
              <a:t>Hot Reset、FLR、Warm Reset 都不會清除</a:t>
            </a:r>
          </a:p>
          <a:p>
            <a:pPr lvl="1"/>
            <a:r>
              <a:rPr b="1" lang="zh-TW" sz="1700" spc="-1" strike="noStrike">
                <a:solidFill>
                  <a:schemeClr val="dk1"/>
                </a:solidFill>
                <a:latin typeface="Aptos"/>
              </a:rPr>
              <a:t>只有主電源移除（Cold Reset / D3cold）才會清除</a:t>
            </a:r>
          </a:p>
          <a:p>
            <a:pPr lvl="1"/>
            <a:r>
              <a:rPr b="1" lang="zh-TW" sz="1700" spc="-1" strike="noStrike">
                <a:solidFill>
                  <a:schemeClr val="dk1"/>
                </a:solidFill>
                <a:latin typeface="Aptos"/>
              </a:rPr>
              <a:t>目的：保留錯誤紀錄，讓重開機後仍能分析事故原因</a:t>
            </a:r>
          </a:p>
          <a:p>
            <a:pPr lvl="1"/>
            <a:r>
              <a:rPr b="1" lang="zh-TW" sz="1700" spc="-1" strike="noStrike">
                <a:solidFill>
                  <a:schemeClr val="dk1"/>
                </a:solidFill>
                <a:latin typeface="Aptos"/>
              </a:rPr>
              <a:t>典型：AER 的錯誤狀態、Header Log、部分鏈路狀態</a:t>
            </a:r>
          </a:p>
          <a:p>
            <a:pPr/>
            <a:r>
              <a:rPr b="1" lang="zh-TW" sz="2000" spc="-1" strike="noStrike">
                <a:solidFill>
                  <a:schemeClr val="dk1"/>
                </a:solidFill>
                <a:latin typeface="Aptos"/>
              </a:rPr>
              <a:t>HwInit 的驗證陷阱</a:t>
            </a:r>
          </a:p>
          <a:p>
            <a:pPr lvl="1"/>
            <a:r>
              <a:rPr b="1" lang="zh-TW" sz="1700" spc="-1" strike="noStrike">
                <a:solidFill>
                  <a:schemeClr val="dk1"/>
                </a:solidFill>
                <a:latin typeface="Aptos"/>
              </a:rPr>
              <a:t>必須在硬體初始化「之後」才檢查唯讀性</a:t>
            </a:r>
          </a:p>
          <a:p>
            <a:pPr lvl="1"/>
            <a:r>
              <a:rPr b="1" lang="zh-TW" sz="1700" spc="-1" strike="noStrike">
                <a:solidFill>
                  <a:schemeClr val="dk1"/>
                </a:solidFill>
                <a:latin typeface="Aptos"/>
              </a:rPr>
              <a:t>初始化期間的行為與之後不同，測試時序要對</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對每一種 Reset 分別驗證：哪些該清、哪些不該清</a:t>
            </a:r>
          </a:p>
          <a:p>
            <a:pPr lvl="1"/>
            <a:r>
              <a:rPr b="1" lang="zh-TW" sz="1700" spc="-1" strike="noStrike">
                <a:solidFill>
                  <a:schemeClr val="dk1"/>
                </a:solidFill>
                <a:latin typeface="Aptos"/>
              </a:rPr>
              <a:t>Sticky 位元在 FLR 之後必須保留 —— 這是最常見的實作缺陷</a:t>
            </a:r>
          </a:p>
          <a:p>
            <a:pPr lvl="1"/>
            <a:r>
              <a:rPr b="1" lang="zh-TW" sz="1700" spc="-1" strike="noStrike">
                <a:solidFill>
                  <a:schemeClr val="dk1"/>
                </a:solidFill>
                <a:latin typeface="Aptos"/>
              </a:rPr>
              <a:t>Cold Reset 後 Sticky 位元必須清除，不可殘留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register test 的設計</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基本策略：由暫存器描述檔驅動，自動生成測試</a:t>
            </a:r>
          </a:p>
          <a:p>
            <a:pPr lvl="1"/>
            <a:r>
              <a:rPr b="1" lang="zh-TW" sz="1700" spc="-1" strike="noStrike">
                <a:solidFill>
                  <a:schemeClr val="dk1"/>
                </a:solidFill>
                <a:latin typeface="Aptos"/>
              </a:rPr>
              <a:t>描述檔記錄每個欄位的位址、寬度、屬性、預設值</a:t>
            </a:r>
          </a:p>
          <a:p>
            <a:pPr lvl="1"/>
            <a:r>
              <a:rPr b="1" lang="zh-TW" sz="1700" spc="-1" strike="noStrike">
                <a:solidFill>
                  <a:schemeClr val="dk1"/>
                </a:solidFill>
                <a:latin typeface="Aptos"/>
              </a:rPr>
              <a:t>測試自動走訪，不需為每個暫存器手寫</a:t>
            </a:r>
          </a:p>
          <a:p>
            <a:pPr/>
            <a:r>
              <a:rPr b="1" lang="zh-TW" sz="2000" spc="-1" strike="noStrike">
                <a:solidFill>
                  <a:schemeClr val="dk1"/>
                </a:solidFill>
                <a:latin typeface="Aptos"/>
              </a:rPr>
              <a:t>必測項目</a:t>
            </a:r>
          </a:p>
          <a:p>
            <a:pPr lvl="1"/>
            <a:r>
              <a:rPr b="1" lang="zh-TW" sz="1700" spc="-1" strike="noStrike">
                <a:solidFill>
                  <a:schemeClr val="dk1"/>
                </a:solidFill>
                <a:latin typeface="Aptos"/>
              </a:rPr>
              <a:t>Reset 值：所有暫存器讀出的預設值符合規格</a:t>
            </a:r>
          </a:p>
          <a:p>
            <a:pPr lvl="1"/>
            <a:r>
              <a:rPr b="1" lang="zh-TW" sz="1700" spc="-1" strike="noStrike">
                <a:solidFill>
                  <a:schemeClr val="dk1"/>
                </a:solidFill>
                <a:latin typeface="Aptos"/>
              </a:rPr>
              <a:t>屬性行為：每個位元依其屬性驗證（RO / RW / RW1C / …）</a:t>
            </a:r>
          </a:p>
          <a:p>
            <a:pPr lvl="1"/>
            <a:r>
              <a:rPr b="1" lang="zh-TW" sz="1700" spc="-1" strike="noStrike">
                <a:solidFill>
                  <a:schemeClr val="dk1"/>
                </a:solidFill>
                <a:latin typeface="Aptos"/>
              </a:rPr>
              <a:t>保留欄位：RsvdP 寫回原值、RsvdZ 寫 0</a:t>
            </a:r>
          </a:p>
          <a:p>
            <a:pPr lvl="1"/>
            <a:r>
              <a:rPr b="1" lang="zh-TW" sz="1700" spc="-1" strike="noStrike">
                <a:solidFill>
                  <a:schemeClr val="dk1"/>
                </a:solidFill>
                <a:latin typeface="Aptos"/>
              </a:rPr>
              <a:t>存取寬度：位元組、字組、雙字組存取都要正確</a:t>
            </a:r>
          </a:p>
          <a:p>
            <a:pPr/>
            <a:r>
              <a:rPr b="1" lang="zh-TW" sz="2000" spc="-1" strike="noStrike">
                <a:solidFill>
                  <a:schemeClr val="dk1"/>
                </a:solidFill>
                <a:latin typeface="Aptos"/>
              </a:rPr>
              <a:t>PCIe 特有的注意事項</a:t>
            </a:r>
          </a:p>
          <a:p>
            <a:pPr lvl="1"/>
            <a:r>
              <a:rPr b="1" lang="zh-TW" sz="1700" spc="-1" strike="noStrike">
                <a:solidFill>
                  <a:schemeClr val="dk1"/>
                </a:solidFill>
                <a:latin typeface="Aptos"/>
              </a:rPr>
              <a:t>配置空間前 256 位元組可用 CfgRd/CfgWr，擴展區需 ECAM</a:t>
            </a:r>
          </a:p>
          <a:p>
            <a:pPr lvl="1"/>
            <a:r>
              <a:rPr b="1" lang="zh-TW" sz="1700" spc="-1" strike="noStrike">
                <a:solidFill>
                  <a:schemeClr val="dk1"/>
                </a:solidFill>
                <a:latin typeface="Aptos"/>
              </a:rPr>
              <a:t>部分暫存器的行為與裝置目前的 D state 相關</a:t>
            </a:r>
          </a:p>
          <a:p>
            <a:pPr lvl="1"/>
            <a:r>
              <a:rPr b="1" lang="zh-TW" sz="1700" spc="-1" strike="noStrike">
                <a:solidFill>
                  <a:schemeClr val="dk1"/>
                </a:solidFill>
                <a:latin typeface="Aptos"/>
              </a:rPr>
              <a:t>Capability 鏈結串列的走訪：指標正確、不成環、以 0 結尾</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七、Compliance 與測試模式</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Compliance 模式</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Polling.Compliance：LTSSM 的測試專用狀態</a:t>
            </a:r>
          </a:p>
          <a:p>
            <a:pPr lvl="1"/>
            <a:r>
              <a:rPr b="1" lang="zh-TW" sz="1700" spc="-1" strike="noStrike">
                <a:solidFill>
                  <a:schemeClr val="dk1"/>
                </a:solidFill>
                <a:latin typeface="Aptos"/>
              </a:rPr>
              <a:t>進入後持續送出 compliance pattern，供儀器量測訊號品質</a:t>
            </a:r>
          </a:p>
          <a:p>
            <a:pPr lvl="1"/>
            <a:r>
              <a:rPr b="1" lang="zh-TW" sz="1700" spc="-1" strike="noStrike">
                <a:solidFill>
                  <a:schemeClr val="dk1"/>
                </a:solidFill>
                <a:latin typeface="Aptos"/>
              </a:rPr>
              <a:t>每一種速率有各自定義的 pattern</a:t>
            </a:r>
          </a:p>
          <a:p>
            <a:pPr/>
            <a:r>
              <a:rPr b="1" lang="zh-TW" sz="2000" spc="-1" strike="noStrike">
                <a:solidFill>
                  <a:schemeClr val="dk1"/>
                </a:solidFill>
                <a:latin typeface="Aptos"/>
              </a:rPr>
              <a:t>進入條件</a:t>
            </a:r>
          </a:p>
          <a:p>
            <a:pPr lvl="1"/>
            <a:r>
              <a:rPr b="1" lang="zh-TW" sz="1700" spc="-1" strike="noStrike">
                <a:solidFill>
                  <a:schemeClr val="dk1"/>
                </a:solidFill>
                <a:latin typeface="Aptos"/>
              </a:rPr>
              <a:t>偵測到對端但無法完成 Polling，且符合特定條件</a:t>
            </a:r>
          </a:p>
          <a:p>
            <a:pPr lvl="1"/>
            <a:r>
              <a:rPr b="1" lang="zh-TW" sz="1700" spc="-1" strike="noStrike">
                <a:solidFill>
                  <a:schemeClr val="dk1"/>
                </a:solidFill>
                <a:latin typeface="Aptos"/>
              </a:rPr>
              <a:t>也可由 Link Control 2 的 Enter Compliance 位元強制進入</a:t>
            </a:r>
          </a:p>
          <a:p>
            <a:pPr/>
            <a:r>
              <a:rPr b="1" lang="zh-TW" sz="2000" spc="-1" strike="noStrike">
                <a:solidFill>
                  <a:schemeClr val="dk1"/>
                </a:solidFill>
                <a:latin typeface="Aptos"/>
              </a:rPr>
              <a:t>實務上的意義</a:t>
            </a:r>
          </a:p>
          <a:p>
            <a:pPr lvl="1"/>
            <a:r>
              <a:rPr b="1" lang="zh-TW" sz="1700" spc="-1" strike="noStrike">
                <a:solidFill>
                  <a:schemeClr val="dk1"/>
                </a:solidFill>
                <a:latin typeface="Aptos"/>
              </a:rPr>
              <a:t>量測眼圖、抖動、電壓擺幅時使用</a:t>
            </a:r>
          </a:p>
          <a:p>
            <a:pPr lvl="1"/>
            <a:r>
              <a:rPr b="1" lang="zh-TW" sz="1700" spc="-1" strike="noStrike">
                <a:solidFill>
                  <a:schemeClr val="dk1"/>
                </a:solidFill>
                <a:latin typeface="Aptos"/>
              </a:rPr>
              <a:t>正常運作時不應進入 —— 誤入代表訓練有問題</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強制進入與自動進入兩條路徑都要測</a:t>
            </a:r>
          </a:p>
          <a:p>
            <a:pPr lvl="1"/>
            <a:r>
              <a:rPr b="1" lang="zh-TW" sz="1700" spc="-1" strike="noStrike">
                <a:solidFill>
                  <a:schemeClr val="dk1"/>
                </a:solidFill>
                <a:latin typeface="Aptos"/>
              </a:rPr>
              <a:t>各速率的 pattern 內容正確</a:t>
            </a:r>
          </a:p>
          <a:p>
            <a:pPr lvl="1"/>
            <a:r>
              <a:rPr b="1" lang="zh-TW" sz="1700" spc="-1" strike="noStrike">
                <a:solidFill>
                  <a:schemeClr val="dk1"/>
                </a:solidFill>
                <a:latin typeface="Aptos"/>
              </a:rPr>
              <a:t>離開 Compliance 後能正常回到訓練流程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Loopback 模式</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概念：接收端把收到的訊號原樣送回發送端</a:t>
            </a:r>
          </a:p>
          <a:p>
            <a:pPr lvl="1"/>
            <a:r>
              <a:rPr b="1" lang="zh-TW" sz="1700" spc="-1" strike="noStrike">
                <a:solidFill>
                  <a:schemeClr val="dk1"/>
                </a:solidFill>
                <a:latin typeface="Aptos"/>
              </a:rPr>
              <a:t>Loopback Master：發起測試的一方，送出測試樣式</a:t>
            </a:r>
          </a:p>
          <a:p>
            <a:pPr lvl="1"/>
            <a:r>
              <a:rPr b="1" lang="zh-TW" sz="1700" spc="-1" strike="noStrike">
                <a:solidFill>
                  <a:schemeClr val="dk1"/>
                </a:solidFill>
                <a:latin typeface="Aptos"/>
              </a:rPr>
              <a:t>Loopback Slave：把收到的資料原封不動回送</a:t>
            </a:r>
          </a:p>
          <a:p>
            <a:pPr/>
            <a:r>
              <a:rPr b="1" lang="zh-TW" sz="2000" spc="-1" strike="noStrike">
                <a:solidFill>
                  <a:schemeClr val="dk1"/>
                </a:solidFill>
                <a:latin typeface="Aptos"/>
              </a:rPr>
              <a:t>用途</a:t>
            </a:r>
          </a:p>
          <a:p>
            <a:pPr lvl="1"/>
            <a:r>
              <a:rPr b="1" lang="zh-TW" sz="1700" spc="-1" strike="noStrike">
                <a:solidFill>
                  <a:schemeClr val="dk1"/>
                </a:solidFill>
                <a:latin typeface="Aptos"/>
              </a:rPr>
              <a:t>量測位元錯誤率（BER）</a:t>
            </a:r>
          </a:p>
          <a:p>
            <a:pPr lvl="1"/>
            <a:r>
              <a:rPr b="1" lang="zh-TW" sz="1700" spc="-1" strike="noStrike">
                <a:solidFill>
                  <a:schemeClr val="dk1"/>
                </a:solidFill>
                <a:latin typeface="Aptos"/>
              </a:rPr>
              <a:t>訊號完整性除錯 —— 不需要對端有完整功能</a:t>
            </a:r>
          </a:p>
          <a:p>
            <a:pPr/>
            <a:r>
              <a:rPr b="1" lang="zh-TW" sz="2000" spc="-1" strike="noStrike">
                <a:solidFill>
                  <a:schemeClr val="dk1"/>
                </a:solidFill>
                <a:latin typeface="Aptos"/>
              </a:rPr>
              <a:t>進入方式：透過 TS1 的 Loopback 位元協商</a:t>
            </a:r>
          </a:p>
          <a:p>
            <a:pPr/>
            <a:r>
              <a:rPr b="1" lang="zh-TW" sz="2000" spc="-1" strike="noStrike">
                <a:solidFill>
                  <a:schemeClr val="dk1"/>
                </a:solidFill>
                <a:latin typeface="Aptos"/>
              </a:rPr>
              <a:t>注意</a:t>
            </a:r>
          </a:p>
          <a:p>
            <a:pPr lvl="1"/>
            <a:r>
              <a:rPr b="1" lang="zh-TW" sz="1700" spc="-1" strike="noStrike">
                <a:solidFill>
                  <a:schemeClr val="dk1"/>
                </a:solidFill>
                <a:latin typeface="Aptos"/>
              </a:rPr>
              <a:t>Slave 端只做位元層級的回送，不解析封包內容</a:t>
            </a:r>
          </a:p>
          <a:p>
            <a:pPr lvl="1"/>
            <a:r>
              <a:rPr b="1" lang="zh-TW" sz="1700" spc="-1" strike="noStrike">
                <a:solidFill>
                  <a:schemeClr val="dk1"/>
                </a:solidFill>
                <a:latin typeface="Aptos"/>
              </a:rPr>
              <a:t>離開 Loopback 需要明確的退出程序</a:t>
            </a:r>
          </a:p>
          <a:p>
            <a:pPr/>
            <a:r>
              <a:rPr b="1" lang="zh-TW" sz="2000" spc="-1" strike="noStrike">
                <a:solidFill>
                  <a:schemeClr val="dk1"/>
                </a:solidFill>
                <a:latin typeface="Aptos"/>
              </a:rPr>
              <a:t>驗證重點</a:t>
            </a:r>
          </a:p>
          <a:p>
            <a:pPr lvl="1"/>
            <a:r>
              <a:rPr b="1" lang="zh-TW" sz="1700" spc="-1" strike="noStrike">
                <a:solidFill>
                  <a:schemeClr val="dk1"/>
                </a:solidFill>
                <a:latin typeface="Aptos"/>
              </a:rPr>
              <a:t>Master 與 Slave 兩種角色都要驗</a:t>
            </a:r>
          </a:p>
          <a:p>
            <a:pPr lvl="1"/>
            <a:r>
              <a:rPr b="1" lang="zh-TW" sz="1700" spc="-1" strike="noStrike">
                <a:solidFill>
                  <a:schemeClr val="dk1"/>
                </a:solidFill>
                <a:latin typeface="Aptos"/>
              </a:rPr>
              <a:t>各速率、各鏈路寬度下的 Loopback</a:t>
            </a:r>
          </a:p>
          <a:p>
            <a:pPr lvl="1"/>
            <a:r>
              <a:rPr b="1" lang="zh-TW" sz="1700" spc="-1" strike="noStrike">
                <a:solidFill>
                  <a:schemeClr val="dk1"/>
                </a:solidFill>
                <a:latin typeface="Aptos"/>
              </a:rPr>
              <a:t>退出程序是否乾淨，能否回到正常訓練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PCI-SIG Compliance 概要</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認證的三個面向</a:t>
            </a:r>
          </a:p>
          <a:p>
            <a:pPr lvl="1"/>
            <a:r>
              <a:rPr b="1" lang="zh-TW" sz="1700" spc="-1" strike="noStrike">
                <a:solidFill>
                  <a:schemeClr val="dk1"/>
                </a:solidFill>
                <a:latin typeface="Aptos"/>
              </a:rPr>
              <a:t>電氣測試：眼圖、抖動、擺幅、去嵌入後的訊號品質</a:t>
            </a:r>
          </a:p>
          <a:p>
            <a:pPr lvl="1"/>
            <a:r>
              <a:rPr b="1" lang="zh-TW" sz="1700" spc="-1" strike="noStrike">
                <a:solidFill>
                  <a:schemeClr val="dk1"/>
                </a:solidFill>
                <a:latin typeface="Aptos"/>
              </a:rPr>
              <a:t>鏈路與協定測試：訓練、狀態機、封包格式、錯誤處理</a:t>
            </a:r>
          </a:p>
          <a:p>
            <a:pPr lvl="1"/>
            <a:r>
              <a:rPr b="1" lang="zh-TW" sz="1700" spc="-1" strike="noStrike">
                <a:solidFill>
                  <a:schemeClr val="dk1"/>
                </a:solidFill>
                <a:latin typeface="Aptos"/>
              </a:rPr>
              <a:t>配置與軟體測試：配置空間、能力結構、枚舉相容性</a:t>
            </a:r>
          </a:p>
          <a:p>
            <a:pPr/>
            <a:r>
              <a:rPr b="1" lang="zh-TW" sz="2000" spc="-1" strike="noStrike">
                <a:solidFill>
                  <a:schemeClr val="dk1"/>
                </a:solidFill>
                <a:latin typeface="Aptos"/>
              </a:rPr>
              <a:t>常用工具</a:t>
            </a:r>
          </a:p>
          <a:p>
            <a:pPr lvl="1"/>
            <a:r>
              <a:rPr b="1" lang="zh-TW" sz="1700" spc="-1" strike="noStrike">
                <a:solidFill>
                  <a:schemeClr val="dk1"/>
                </a:solidFill>
                <a:latin typeface="Aptos"/>
              </a:rPr>
              <a:t>PCI-SIG 提供的測試套件與 compliance test card</a:t>
            </a:r>
          </a:p>
          <a:p>
            <a:pPr lvl="1"/>
            <a:r>
              <a:rPr b="1" lang="zh-TW" sz="1700" spc="-1" strike="noStrike">
                <a:solidFill>
                  <a:schemeClr val="dk1"/>
                </a:solidFill>
                <a:latin typeface="Aptos"/>
              </a:rPr>
              <a:t>協定分析儀（PA）搭配自動化測試腳本</a:t>
            </a:r>
          </a:p>
          <a:p>
            <a:pPr/>
            <a:r>
              <a:rPr b="1" lang="zh-TW" sz="2000" spc="-1" strike="noStrike">
                <a:solidFill>
                  <a:schemeClr val="dk1"/>
                </a:solidFill>
                <a:latin typeface="Aptos"/>
              </a:rPr>
              <a:t>與內部驗證的關係</a:t>
            </a:r>
          </a:p>
          <a:p>
            <a:pPr lvl="1"/>
            <a:r>
              <a:rPr b="1" lang="zh-TW" sz="1700" spc="-1" strike="noStrike">
                <a:solidFill>
                  <a:schemeClr val="dk1"/>
                </a:solidFill>
                <a:latin typeface="Aptos"/>
              </a:rPr>
              <a:t>Compliance 是「及格線」，不是完整驗證</a:t>
            </a:r>
          </a:p>
          <a:p>
            <a:pPr lvl="1"/>
            <a:r>
              <a:rPr b="1" lang="zh-TW" sz="1700" spc="-1" strike="noStrike">
                <a:solidFill>
                  <a:schemeClr val="dk1"/>
                </a:solidFill>
                <a:latin typeface="Aptos"/>
              </a:rPr>
              <a:t>內部驗證應涵蓋 compliance 未觸及的錯誤與邊界情境</a:t>
            </a:r>
          </a:p>
          <a:p>
            <a:pPr/>
            <a:r>
              <a:rPr b="1" lang="zh-TW" sz="2000" spc="-1" strike="noStrike">
                <a:solidFill>
                  <a:schemeClr val="dk1"/>
                </a:solidFill>
                <a:latin typeface="Aptos"/>
              </a:rPr>
              <a:t>建議：把 compliance 項目納入回歸測試，但不要當作驗證計畫的全部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八、Gen6 FLIT Mode</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FLIT 模式改變了什麼</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FLIT = Flow Control Unit，固定大小的傳輸單位</a:t>
            </a:r>
          </a:p>
          <a:p>
            <a:pPr lvl="1"/>
            <a:r>
              <a:rPr b="1" lang="zh-TW" sz="1700" spc="-1" strike="noStrike">
                <a:solidFill>
                  <a:schemeClr val="dk1"/>
                </a:solidFill>
                <a:latin typeface="Aptos"/>
              </a:rPr>
              <a:t>總長 256 位元組，內容固定切分</a:t>
            </a:r>
          </a:p>
          <a:p>
            <a:pPr lvl="1"/>
            <a:r>
              <a:rPr b="1" lang="zh-TW" sz="1700" spc="-1" strike="noStrike">
                <a:solidFill>
                  <a:schemeClr val="dk1"/>
                </a:solidFill>
                <a:latin typeface="Aptos"/>
              </a:rPr>
              <a:t>TLP 資料 236 B、DLLP 6 B、CRC 8 B、FEC 6 B</a:t>
            </a:r>
          </a:p>
          <a:p>
            <a:pPr/>
            <a:r>
              <a:rPr b="1" lang="zh-TW" sz="2000" spc="-1" strike="noStrike">
                <a:solidFill>
                  <a:schemeClr val="dk1"/>
                </a:solidFill>
                <a:latin typeface="Aptos"/>
              </a:rPr>
              <a:t>與傳統模式的根本差異</a:t>
            </a:r>
          </a:p>
          <a:p>
            <a:pPr lvl="1"/>
            <a:r>
              <a:rPr b="1" lang="zh-TW" sz="1700" spc="-1" strike="noStrike">
                <a:solidFill>
                  <a:schemeClr val="dk1"/>
                </a:solidFill>
                <a:latin typeface="Aptos"/>
              </a:rPr>
              <a:t>傳統：封包長度不定，靠 Start / End 字元標示邊界</a:t>
            </a:r>
          </a:p>
          <a:p>
            <a:pPr lvl="1"/>
            <a:r>
              <a:rPr b="1" lang="zh-TW" sz="1700" spc="-1" strike="noStrike">
                <a:solidFill>
                  <a:schemeClr val="dk1"/>
                </a:solidFill>
                <a:latin typeface="Aptos"/>
              </a:rPr>
              <a:t>FLIT：長度固定，不需要 framing 字元，位置本身就是邊界</a:t>
            </a:r>
          </a:p>
          <a:p>
            <a:pPr/>
            <a:r>
              <a:rPr b="1" lang="zh-TW" sz="2000" spc="-1" strike="noStrike">
                <a:solidFill>
                  <a:schemeClr val="dk1"/>
                </a:solidFill>
                <a:latin typeface="Aptos"/>
              </a:rPr>
              <a:t>消失或改變的機制</a:t>
            </a:r>
          </a:p>
          <a:p>
            <a:pPr lvl="1"/>
            <a:r>
              <a:rPr b="1" lang="zh-TW" sz="1700" spc="-1" strike="noStrike">
                <a:solidFill>
                  <a:schemeClr val="dk1"/>
                </a:solidFill>
                <a:latin typeface="Aptos"/>
              </a:rPr>
              <a:t>不再有每個 TLP 各自的序號與 LCRC</a:t>
            </a:r>
          </a:p>
          <a:p>
            <a:pPr lvl="1"/>
            <a:r>
              <a:rPr b="1" lang="zh-TW" sz="1700" spc="-1" strike="noStrike">
                <a:solidFill>
                  <a:schemeClr val="dk1"/>
                </a:solidFill>
                <a:latin typeface="Aptos"/>
              </a:rPr>
              <a:t>改為每個 FLIT 有自己的序號與 CRC</a:t>
            </a:r>
          </a:p>
          <a:p>
            <a:pPr lvl="1"/>
            <a:r>
              <a:rPr b="1" lang="zh-TW" sz="1700" spc="-1" strike="noStrike">
                <a:solidFill>
                  <a:schemeClr val="dk1"/>
                </a:solidFill>
                <a:latin typeface="Aptos"/>
              </a:rPr>
              <a:t>重傳的單位從 TLP 變成 FLIT</a:t>
            </a:r>
          </a:p>
          <a:p>
            <a:pPr lvl="1"/>
            <a:r>
              <a:rPr b="1" lang="zh-TW" sz="1700" spc="-1" strike="noStrike">
                <a:solidFill>
                  <a:schemeClr val="dk1"/>
                </a:solidFill>
                <a:latin typeface="Aptos"/>
              </a:rPr>
              <a:t>DLLP 內嵌在 FLIT 的固定位置，不再是獨立封包</a:t>
            </a:r>
          </a:p>
          <a:p>
            <a:pPr/>
            <a:r>
              <a:rPr b="1" lang="zh-TW" sz="2000" spc="-1" strike="noStrike">
                <a:solidFill>
                  <a:schemeClr val="dk1"/>
                </a:solidFill>
                <a:latin typeface="Aptos"/>
              </a:rPr>
              <a:t>新增：FEC 前向糾錯，可修正部分錯誤而不需重傳</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FLIT 對驗證的影響</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要重新檢視的假設</a:t>
            </a:r>
          </a:p>
          <a:p>
            <a:pPr lvl="1"/>
            <a:r>
              <a:rPr b="1" lang="zh-TW" sz="1700" spc="-1" strike="noStrike">
                <a:solidFill>
                  <a:schemeClr val="dk1"/>
                </a:solidFill>
                <a:latin typeface="Aptos"/>
              </a:rPr>
              <a:t>「每個 TLP 有序號」→ 不成立，序號在 FLIT 層級</a:t>
            </a:r>
          </a:p>
          <a:p>
            <a:pPr lvl="1"/>
            <a:r>
              <a:rPr b="1" lang="zh-TW" sz="1700" spc="-1" strike="noStrike">
                <a:solidFill>
                  <a:schemeClr val="dk1"/>
                </a:solidFill>
                <a:latin typeface="Aptos"/>
              </a:rPr>
              <a:t>「LCRC 保護單一 TLP」→ 改為 CRC 保護整個 FLIT</a:t>
            </a:r>
          </a:p>
          <a:p>
            <a:pPr lvl="1"/>
            <a:r>
              <a:rPr b="1" lang="zh-TW" sz="1700" spc="-1" strike="noStrike">
                <a:solidFill>
                  <a:schemeClr val="dk1"/>
                </a:solidFill>
                <a:latin typeface="Aptos"/>
              </a:rPr>
              <a:t>「Start / End 標示封包邊界」→ 不再存在</a:t>
            </a:r>
          </a:p>
          <a:p>
            <a:pPr lvl="1"/>
            <a:r>
              <a:rPr b="1" lang="zh-TW" sz="1700" spc="-1" strike="noStrike">
                <a:solidFill>
                  <a:schemeClr val="dk1"/>
                </a:solidFill>
                <a:latin typeface="Aptos"/>
              </a:rPr>
              <a:t>「DLLP 是獨立封包」→ 內嵌在 FLIT 內</a:t>
            </a:r>
          </a:p>
          <a:p>
            <a:pPr/>
            <a:r>
              <a:rPr b="1" lang="zh-TW" sz="2000" spc="-1" strike="noStrike">
                <a:solidFill>
                  <a:schemeClr val="dk1"/>
                </a:solidFill>
                <a:latin typeface="Aptos"/>
              </a:rPr>
              <a:t>新的驗證面向</a:t>
            </a:r>
          </a:p>
          <a:p>
            <a:pPr lvl="1"/>
            <a:r>
              <a:rPr b="1" lang="zh-TW" sz="1700" spc="-1" strike="noStrike">
                <a:solidFill>
                  <a:schemeClr val="dk1"/>
                </a:solidFill>
                <a:latin typeface="Aptos"/>
              </a:rPr>
              <a:t>FLIT 打包：多個小 TLP 如何塞進同一個 FLIT</a:t>
            </a:r>
          </a:p>
          <a:p>
            <a:pPr lvl="1"/>
            <a:r>
              <a:rPr b="1" lang="zh-TW" sz="1700" spc="-1" strike="noStrike">
                <a:solidFill>
                  <a:schemeClr val="dk1"/>
                </a:solidFill>
                <a:latin typeface="Aptos"/>
              </a:rPr>
              <a:t>TLP 跨 FLIT 邊界的處理</a:t>
            </a:r>
          </a:p>
          <a:p>
            <a:pPr lvl="1"/>
            <a:r>
              <a:rPr b="1" lang="zh-TW" sz="1700" spc="-1" strike="noStrike">
                <a:solidFill>
                  <a:schemeClr val="dk1"/>
                </a:solidFill>
                <a:latin typeface="Aptos"/>
              </a:rPr>
              <a:t>FEC 的糾錯能力邊界 —— 幾個位元錯誤內可修正</a:t>
            </a:r>
          </a:p>
          <a:p>
            <a:pPr lvl="1"/>
            <a:r>
              <a:rPr b="1" lang="zh-TW" sz="1700" spc="-1" strike="noStrike">
                <a:solidFill>
                  <a:schemeClr val="dk1"/>
                </a:solidFill>
                <a:latin typeface="Aptos"/>
              </a:rPr>
              <a:t>FEC 修正失敗後才進入重傳的交界行為</a:t>
            </a:r>
          </a:p>
          <a:p>
            <a:pPr/>
            <a:r>
              <a:rPr b="1" lang="zh-TW" sz="2000" spc="-1" strike="noStrike">
                <a:solidFill>
                  <a:schemeClr val="dk1"/>
                </a:solidFill>
                <a:latin typeface="Aptos"/>
              </a:rPr>
              <a:t>兩種模式的共存</a:t>
            </a:r>
          </a:p>
          <a:p>
            <a:pPr lvl="1"/>
            <a:r>
              <a:rPr b="1" lang="zh-TW" sz="1700" spc="-1" strike="noStrike">
                <a:solidFill>
                  <a:schemeClr val="dk1"/>
                </a:solidFill>
                <a:latin typeface="Aptos"/>
              </a:rPr>
              <a:t>鏈路可在傳統模式與 FLIT 模式間協商</a:t>
            </a:r>
          </a:p>
          <a:p>
            <a:pPr lvl="1"/>
            <a:r>
              <a:rPr b="1" lang="zh-TW" sz="1700" spc="-1" strike="noStrike">
                <a:solidFill>
                  <a:schemeClr val="dk1"/>
                </a:solidFill>
                <a:latin typeface="Aptos"/>
              </a:rPr>
              <a:t>模式切換的時機與行為要專門驗證</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PlaceHolder 1"/>
          <p:cNvSpPr>
            <a:spLocks noGrp="1"/>
          </p:cNvSpPr>
          <p:nvPr>
            <p:ph type="title"/>
          </p:nvPr>
        </p:nvSpPr>
        <p:spPr>
          <a:xfrm>
            <a:off x="831960" y="1709640"/>
            <a:ext cx="10513800" cy="2850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zh-TW" sz="6000" spc="-1" strike="noStrike">
                <a:solidFill>
                  <a:schemeClr val="dk1"/>
                </a:solidFill>
                <a:latin typeface="Aptos Display"/>
              </a:rPr>
              <a:t>九、驗證規劃與延伸閱讀</a:t>
            </a:r>
            <a:endParaRPr b="0" lang="en-US" sz="6000" spc="-1" strike="noStrike">
              <a:solidFill>
                <a:srgbClr val="000000"/>
              </a:solidFill>
              <a:latin typeface="Arial"/>
            </a:endParaRPr>
          </a:p>
        </p:txBody>
      </p:sp>
      <p:sp>
        <p:nvSpPr>
          <p:cNvPr id="114" name="PlaceHolder 2"/>
          <p:cNvSpPr>
            <a:spLocks noGrp="1"/>
          </p:cNvSpPr>
          <p:nvPr>
            <p:ph/>
          </p:nvPr>
        </p:nvSpPr>
        <p:spPr>
          <a:xfrm>
            <a:off x="831960" y="4589640"/>
            <a:ext cx="10513800" cy="1498320"/>
          </a:xfrm>
          <a:prstGeom prst="rect">
            <a:avLst/>
          </a:prstGeom>
          <a:noFill/>
          <a:ln w="0">
            <a:noFill/>
          </a:ln>
        </p:spPr>
        <p:txBody>
          <a:bodyPr lIns="91440" rIns="91440" tIns="45720" bIns="45720" anchor="t">
            <a:noAutofit/>
          </a:body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Coverage 規劃建議</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功能涵蓋率</a:t>
            </a:r>
          </a:p>
          <a:p>
            <a:pPr lvl="1"/>
            <a:r>
              <a:rPr b="1" lang="zh-TW" sz="1700" spc="-1" strike="noStrike">
                <a:solidFill>
                  <a:schemeClr val="dk1"/>
                </a:solidFill>
                <a:latin typeface="Aptos"/>
              </a:rPr>
              <a:t>TLP 類型 × 長度 × 屬性位元的交叉</a:t>
            </a:r>
          </a:p>
          <a:p>
            <a:pPr lvl="1"/>
            <a:r>
              <a:rPr b="1" lang="zh-TW" sz="1700" spc="-1" strike="noStrike">
                <a:solidFill>
                  <a:schemeClr val="dk1"/>
                </a:solidFill>
                <a:latin typeface="Aptos"/>
              </a:rPr>
              <a:t>四種路由方式 × 接受 / 轉發 / 拒絕的結果</a:t>
            </a:r>
          </a:p>
          <a:p>
            <a:pPr lvl="1"/>
            <a:r>
              <a:rPr b="1" lang="zh-TW" sz="1700" spc="-1" strike="noStrike">
                <a:solidFill>
                  <a:schemeClr val="dk1"/>
                </a:solidFill>
                <a:latin typeface="Aptos"/>
              </a:rPr>
              <a:t>六組 FC credit 的耗盡與恢復</a:t>
            </a:r>
          </a:p>
          <a:p>
            <a:pPr lvl="1"/>
            <a:r>
              <a:rPr b="1" lang="zh-TW" sz="1700" spc="-1" strike="noStrike">
                <a:solidFill>
                  <a:schemeClr val="dk1"/>
                </a:solidFill>
                <a:latin typeface="Aptos"/>
              </a:rPr>
              <a:t>每一種錯誤類型至少被觸發一次</a:t>
            </a:r>
          </a:p>
          <a:p>
            <a:pPr/>
            <a:r>
              <a:rPr b="1" lang="zh-TW" sz="2000" spc="-1" strike="noStrike">
                <a:solidFill>
                  <a:schemeClr val="dk1"/>
                </a:solidFill>
                <a:latin typeface="Aptos"/>
              </a:rPr>
              <a:t>狀態涵蓋率</a:t>
            </a:r>
          </a:p>
          <a:p>
            <a:pPr lvl="1"/>
            <a:r>
              <a:rPr b="1" lang="zh-TW" sz="1700" spc="-1" strike="noStrike">
                <a:solidFill>
                  <a:schemeClr val="dk1"/>
                </a:solidFill>
                <a:latin typeface="Aptos"/>
              </a:rPr>
              <a:t>LTSSM 所有主狀態與子狀態</a:t>
            </a:r>
          </a:p>
          <a:p>
            <a:pPr lvl="1"/>
            <a:r>
              <a:rPr b="1" lang="zh-TW" sz="1700" spc="-1" strike="noStrike">
                <a:solidFill>
                  <a:schemeClr val="dk1"/>
                </a:solidFill>
                <a:latin typeface="Aptos"/>
              </a:rPr>
              <a:t>狀態轉移，含逾時與失敗路徑</a:t>
            </a:r>
          </a:p>
          <a:p>
            <a:pPr lvl="1"/>
            <a:r>
              <a:rPr b="1" lang="zh-TW" sz="1700" spc="-1" strike="noStrike">
                <a:solidFill>
                  <a:schemeClr val="dk1"/>
                </a:solidFill>
                <a:latin typeface="Aptos"/>
              </a:rPr>
              <a:t>D state 與 L state 的所有合法組合</a:t>
            </a:r>
          </a:p>
          <a:p>
            <a:pPr/>
            <a:r>
              <a:rPr b="1" lang="zh-TW" sz="2000" spc="-1" strike="noStrike">
                <a:solidFill>
                  <a:schemeClr val="dk1"/>
                </a:solidFill>
                <a:latin typeface="Aptos"/>
              </a:rPr>
              <a:t>邊界涵蓋率</a:t>
            </a:r>
          </a:p>
          <a:p>
            <a:pPr lvl="1"/>
            <a:r>
              <a:rPr b="1" lang="zh-TW" sz="1700" spc="-1" strike="noStrike">
                <a:solidFill>
                  <a:schemeClr val="dk1"/>
                </a:solidFill>
                <a:latin typeface="Aptos"/>
              </a:rPr>
              <a:t>序號回繞、credit 計數回繞、Tag 用盡</a:t>
            </a:r>
          </a:p>
          <a:p>
            <a:pPr lvl="1"/>
            <a:r>
              <a:rPr b="1" lang="zh-TW" sz="1700" spc="-1" strike="noStrike">
                <a:solidFill>
                  <a:schemeClr val="dk1"/>
                </a:solidFill>
                <a:latin typeface="Aptos"/>
              </a:rPr>
              <a:t>每個 timeout 的前後邊界</a:t>
            </a:r>
          </a:p>
          <a:p>
            <a:pPr lvl="1"/>
            <a:r>
              <a:rPr b="1" lang="zh-TW" sz="1700" spc="-1" strike="noStrike">
                <a:solidFill>
                  <a:schemeClr val="dk1"/>
                </a:solidFill>
                <a:latin typeface="Aptos"/>
              </a:rPr>
              <a:t>Max_Payload_Size 與 Max_Read_Request_Size 的邊界值</a:t>
            </a:r>
          </a:p>
          <a:p>
            <a:pPr/>
            <a:r>
              <a:rPr b="1" lang="zh-TW" sz="2000" spc="-1" strike="noStrike">
                <a:solidFill>
                  <a:schemeClr val="dk1"/>
                </a:solidFill>
                <a:latin typeface="Aptos"/>
              </a:rPr>
              <a:t>建議：先把狀態涵蓋率做起來，它最容易發現「從來沒被測過」的路徑</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常見的驗證陷阱</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只驗正常路徑</a:t>
            </a:r>
          </a:p>
          <a:p>
            <a:pPr lvl="1"/>
            <a:r>
              <a:rPr b="1" lang="zh-TW" sz="1700" spc="-1" strike="noStrike">
                <a:solidFill>
                  <a:schemeClr val="dk1"/>
                </a:solidFill>
                <a:latin typeface="Aptos"/>
              </a:rPr>
              <a:t>錯誤路徑的程式碼往往佔設計的一半以上，卻只分到少數測試</a:t>
            </a:r>
          </a:p>
          <a:p>
            <a:pPr/>
            <a:r>
              <a:rPr b="1" lang="zh-TW" sz="2000" spc="-1" strike="noStrike">
                <a:solidFill>
                  <a:schemeClr val="dk1"/>
                </a:solidFill>
                <a:latin typeface="Aptos"/>
              </a:rPr>
              <a:t>只測中間值，不測邊界</a:t>
            </a:r>
          </a:p>
          <a:p>
            <a:pPr lvl="1"/>
            <a:r>
              <a:rPr b="1" lang="zh-TW" sz="1700" spc="-1" strike="noStrike">
                <a:solidFill>
                  <a:schemeClr val="dk1"/>
                </a:solidFill>
                <a:latin typeface="Aptos"/>
              </a:rPr>
              <a:t>幾乎所有計數與計時的 bug 都藏在邊界</a:t>
            </a:r>
          </a:p>
          <a:p>
            <a:pPr/>
            <a:r>
              <a:rPr b="1" lang="zh-TW" sz="2000" spc="-1" strike="noStrike">
                <a:solidFill>
                  <a:schemeClr val="dk1"/>
                </a:solidFill>
                <a:latin typeface="Aptos"/>
              </a:rPr>
              <a:t>只跑短測試</a:t>
            </a:r>
          </a:p>
          <a:p>
            <a:pPr lvl="1"/>
            <a:r>
              <a:rPr b="1" lang="zh-TW" sz="1700" spc="-1" strike="noStrike">
                <a:solidFill>
                  <a:schemeClr val="dk1"/>
                </a:solidFill>
                <a:latin typeface="Aptos"/>
              </a:rPr>
              <a:t>資源洩漏（Tag、credit、buffer）需要長時間才會顯現</a:t>
            </a:r>
          </a:p>
          <a:p>
            <a:pPr/>
            <a:r>
              <a:rPr b="1" lang="zh-TW" sz="2000" spc="-1" strike="noStrike">
                <a:solidFill>
                  <a:schemeClr val="dk1"/>
                </a:solidFill>
                <a:latin typeface="Aptos"/>
              </a:rPr>
              <a:t>把 compliance 當成驗證完成的標準</a:t>
            </a:r>
          </a:p>
          <a:p>
            <a:pPr lvl="1"/>
            <a:r>
              <a:rPr b="1" lang="zh-TW" sz="1700" spc="-1" strike="noStrike">
                <a:solidFill>
                  <a:schemeClr val="dk1"/>
                </a:solidFill>
                <a:latin typeface="Aptos"/>
              </a:rPr>
              <a:t>那是互通性的及格線，不是設計正確性的證明</a:t>
            </a:r>
          </a:p>
          <a:p>
            <a:pPr/>
            <a:r>
              <a:rPr b="1" lang="zh-TW" sz="2000" spc="-1" strike="noStrike">
                <a:solidFill>
                  <a:schemeClr val="dk1"/>
                </a:solidFill>
                <a:latin typeface="Aptos"/>
              </a:rPr>
              <a:t>checker 寫得比設計還樂觀</a:t>
            </a:r>
          </a:p>
          <a:p>
            <a:pPr lvl="1"/>
            <a:r>
              <a:rPr b="1" lang="zh-TW" sz="1700" spc="-1" strike="noStrike">
                <a:solidFill>
                  <a:schemeClr val="dk1"/>
                </a:solidFill>
                <a:latin typeface="Aptos"/>
              </a:rPr>
              <a:t>例如只檢查「有沒有回應」，不檢查「回應內容對不對」</a:t>
            </a:r>
          </a:p>
          <a:p>
            <a:pPr/>
            <a:r>
              <a:rPr b="1" lang="zh-TW" sz="2000" spc="-1" strike="noStrike">
                <a:solidFill>
                  <a:schemeClr val="dk1"/>
                </a:solidFill>
                <a:latin typeface="Aptos"/>
              </a:rPr>
              <a:t>忽略跨層互動</a:t>
            </a:r>
          </a:p>
          <a:p>
            <a:pPr lvl="1"/>
            <a:r>
              <a:rPr b="1" lang="zh-TW" sz="1700" spc="-1" strike="noStrike">
                <a:solidFill>
                  <a:schemeClr val="dk1"/>
                </a:solidFill>
                <a:latin typeface="Aptos"/>
              </a:rPr>
              <a:t>LinkUp 時序、重訓後的重新初始化、錯誤時的資源回收</a:t>
            </a:r>
          </a:p>
          <a:p>
            <a:pPr/>
            <a:r>
              <a:rPr b="1" lang="zh-TW" sz="2000" spc="-1" strike="noStrike">
                <a:solidFill>
                  <a:schemeClr val="dk1"/>
                </a:solidFill>
                <a:latin typeface="Aptos"/>
              </a:rPr>
              <a:t>共通點：這些陷阱的症狀都是「實驗室好好的，客戶端才出事」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延伸閱讀：spec 章節對照</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PCI Express Base Specification 主要章節</a:t>
            </a:r>
          </a:p>
          <a:p>
            <a:pPr lvl="1"/>
            <a:r>
              <a:rPr b="1" lang="zh-TW" sz="1700" spc="-1" strike="noStrike">
                <a:solidFill>
                  <a:schemeClr val="dk1"/>
                </a:solidFill>
                <a:latin typeface="Aptos"/>
              </a:rPr>
              <a:t>§2.2 – 2.3　TLP 格式與欄位定義</a:t>
            </a:r>
          </a:p>
          <a:p>
            <a:pPr lvl="1"/>
            <a:r>
              <a:rPr b="1" lang="zh-TW" sz="1700" spc="-1" strike="noStrike">
                <a:solidFill>
                  <a:schemeClr val="dk1"/>
                </a:solidFill>
                <a:latin typeface="Aptos"/>
              </a:rPr>
              <a:t>§2.4　　　事務排序規則（含完整交叉表）</a:t>
            </a:r>
          </a:p>
          <a:p>
            <a:pPr lvl="1"/>
            <a:r>
              <a:rPr b="1" lang="zh-TW" sz="1700" spc="-1" strike="noStrike">
                <a:solidFill>
                  <a:schemeClr val="dk1"/>
                </a:solidFill>
                <a:latin typeface="Aptos"/>
              </a:rPr>
              <a:t>§2.6　　　流量控制</a:t>
            </a:r>
          </a:p>
          <a:p>
            <a:pPr lvl="1"/>
            <a:r>
              <a:rPr b="1" lang="zh-TW" sz="1700" spc="-1" strike="noStrike">
                <a:solidFill>
                  <a:schemeClr val="dk1"/>
                </a:solidFill>
                <a:latin typeface="Aptos"/>
              </a:rPr>
              <a:t>§3.5 – 3.6　資料鏈結層：DLLP、Ack/Nak、重傳</a:t>
            </a:r>
          </a:p>
          <a:p>
            <a:pPr lvl="1"/>
            <a:r>
              <a:rPr b="1" lang="zh-TW" sz="1700" spc="-1" strike="noStrike">
                <a:solidFill>
                  <a:schemeClr val="dk1"/>
                </a:solidFill>
                <a:latin typeface="Aptos"/>
              </a:rPr>
              <a:t>§4.2　　　物理層邏輯子區塊、LTSSM、有序集</a:t>
            </a:r>
          </a:p>
          <a:p>
            <a:pPr lvl="1"/>
            <a:r>
              <a:rPr b="1" lang="zh-TW" sz="1700" spc="-1" strike="noStrike">
                <a:solidFill>
                  <a:schemeClr val="dk1"/>
                </a:solidFill>
                <a:latin typeface="Aptos"/>
              </a:rPr>
              <a:t>§4.3　　　物理層電氣子區塊</a:t>
            </a:r>
          </a:p>
          <a:p>
            <a:pPr lvl="1"/>
            <a:r>
              <a:rPr b="1" lang="zh-TW" sz="1700" spc="-1" strike="noStrike">
                <a:solidFill>
                  <a:schemeClr val="dk1"/>
                </a:solidFill>
                <a:latin typeface="Aptos"/>
              </a:rPr>
              <a:t>§5　　　　電源管理</a:t>
            </a:r>
          </a:p>
          <a:p>
            <a:pPr lvl="1"/>
            <a:r>
              <a:rPr b="1" lang="zh-TW" sz="1700" spc="-1" strike="noStrike">
                <a:solidFill>
                  <a:schemeClr val="dk1"/>
                </a:solidFill>
                <a:latin typeface="Aptos"/>
              </a:rPr>
              <a:t>§6.1　　　中斷（INTx / MSI / MSI-X）</a:t>
            </a:r>
          </a:p>
          <a:p>
            <a:pPr lvl="1"/>
            <a:r>
              <a:rPr b="1" lang="zh-TW" sz="1700" spc="-1" strike="noStrike">
                <a:solidFill>
                  <a:schemeClr val="dk1"/>
                </a:solidFill>
                <a:latin typeface="Aptos"/>
              </a:rPr>
              <a:t>§6.2　　　錯誤處理與回報</a:t>
            </a:r>
          </a:p>
          <a:p>
            <a:pPr lvl="1"/>
            <a:r>
              <a:rPr b="1" lang="zh-TW" sz="1700" spc="-1" strike="noStrike">
                <a:solidFill>
                  <a:schemeClr val="dk1"/>
                </a:solidFill>
                <a:latin typeface="Aptos"/>
              </a:rPr>
              <a:t>§6.6　　　Reset 機制</a:t>
            </a:r>
          </a:p>
          <a:p>
            <a:pPr lvl="1"/>
            <a:r>
              <a:rPr b="1" lang="zh-TW" sz="1700" spc="-1" strike="noStrike">
                <a:solidFill>
                  <a:schemeClr val="dk1"/>
                </a:solidFill>
                <a:latin typeface="Aptos"/>
              </a:rPr>
              <a:t>§7　　　　配置空間與各能力結構的暫存器定義</a:t>
            </a:r>
          </a:p>
          <a:p>
            <a:pPr/>
            <a:r>
              <a:rPr b="1" lang="zh-TW" sz="2000" spc="-1" strike="noStrike">
                <a:solidFill>
                  <a:schemeClr val="dk1"/>
                </a:solidFill>
                <a:latin typeface="Aptos"/>
              </a:rPr>
              <a:t>查規格的建議：先看該章的 Overview 建立框架，再深入條文</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2"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zh-TW" sz="4400" spc="-1" strike="noStrike">
                <a:solidFill>
                  <a:schemeClr val="dk1"/>
                </a:solidFill>
                <a:latin typeface="Aptos Display"/>
              </a:rPr>
              <a:t>重傳機制的驗證重點</a:t>
            </a:r>
            <a:endParaRPr b="0" lang="en-US" sz="4400" spc="-1" strike="noStrike">
              <a:solidFill>
                <a:srgbClr val="000000"/>
              </a:solidFill>
              <a:latin typeface="Arial"/>
            </a:endParaRPr>
          </a:p>
        </p:txBody>
      </p:sp>
      <p:sp>
        <p:nvSpPr>
          <p:cNvPr id="143" name="PlaceHolder 2"/>
          <p:cNvSpPr>
            <a:spLocks noGrp="1"/>
          </p:cNvSpPr>
          <p:nvPr>
            <p:ph/>
          </p:nvPr>
        </p:nvSpPr>
        <p:spPr>
          <a:xfrm>
            <a:off x="838080" y="1690560"/>
            <a:ext cx="10513800" cy="5425920"/>
          </a:xfrm>
          <a:prstGeom prst="rect">
            <a:avLst/>
          </a:prstGeom>
          <a:noFill/>
          <a:ln w="0">
            <a:noFill/>
          </a:ln>
        </p:spPr>
        <p:txBody>
          <a:bodyPr lIns="91440" rIns="91440" tIns="45720" bIns="45720" anchor="t">
            <a:normAutofit fontScale="88333"/>
          </a:bodyPr>
          <a:p>
            <a:pPr/>
            <a:r>
              <a:rPr b="1" lang="zh-TW" sz="2000" spc="-1" strike="noStrike">
                <a:solidFill>
                  <a:schemeClr val="dk1"/>
                </a:solidFill>
                <a:latin typeface="Aptos"/>
              </a:rPr>
              <a:t>序號</a:t>
            </a:r>
          </a:p>
          <a:p>
            <a:pPr lvl="1"/>
            <a:r>
              <a:rPr b="1" lang="zh-TW" sz="1700" spc="-1" strike="noStrike">
                <a:solidFill>
                  <a:schemeClr val="dk1"/>
                </a:solidFill>
                <a:latin typeface="Aptos"/>
              </a:rPr>
              <a:t>跨越 4095 → 0 回繞的完整序列</a:t>
            </a:r>
          </a:p>
          <a:p>
            <a:pPr lvl="1"/>
            <a:r>
              <a:rPr b="1" lang="zh-TW" sz="1700" spc="-1" strike="noStrike">
                <a:solidFill>
                  <a:schemeClr val="dk1"/>
                </a:solidFill>
                <a:latin typeface="Aptos"/>
              </a:rPr>
              <a:t>序號不連續時應回 Nak</a:t>
            </a:r>
          </a:p>
          <a:p>
            <a:pPr lvl="1"/>
            <a:r>
              <a:rPr b="1" lang="zh-TW" sz="1700" spc="-1" strike="noStrike">
                <a:solidFill>
                  <a:schemeClr val="dk1"/>
                </a:solidFill>
                <a:latin typeface="Aptos"/>
              </a:rPr>
              <a:t>未確認數量達門檻時應停止取用新封包</a:t>
            </a:r>
          </a:p>
          <a:p>
            <a:pPr/>
            <a:r>
              <a:rPr b="1" lang="zh-TW" sz="2000" spc="-1" strike="noStrike">
                <a:solidFill>
                  <a:schemeClr val="dk1"/>
                </a:solidFill>
                <a:latin typeface="Aptos"/>
              </a:rPr>
              <a:t>計時器</a:t>
            </a:r>
          </a:p>
          <a:p>
            <a:pPr lvl="1"/>
            <a:r>
              <a:rPr b="1" lang="zh-TW" sz="1700" spc="-1" strike="noStrike">
                <a:solidFill>
                  <a:schemeClr val="dk1"/>
                </a:solidFill>
                <a:latin typeface="Aptos"/>
              </a:rPr>
              <a:t>ACKNAK_LATENCY_TIMER 與 REPLAY_TIMER 的邊界值</a:t>
            </a:r>
          </a:p>
          <a:p>
            <a:pPr lvl="1"/>
            <a:r>
              <a:rPr b="1" lang="zh-TW" sz="1700" spc="-1" strike="noStrike">
                <a:solidFill>
                  <a:schemeClr val="dk1"/>
                </a:solidFill>
                <a:latin typeface="Aptos"/>
              </a:rPr>
              <a:t>Ack 剛好在逾時瞬間抵達的競態</a:t>
            </a:r>
          </a:p>
          <a:p>
            <a:pPr lvl="1"/>
            <a:r>
              <a:rPr b="1" lang="zh-TW" sz="1700" spc="-1" strike="noStrike">
                <a:solidFill>
                  <a:schemeClr val="dk1"/>
                </a:solidFill>
                <a:latin typeface="Aptos"/>
              </a:rPr>
              <a:t>REPLAY_TIMER 是否在收到 Ack / Nak 時正確重置</a:t>
            </a:r>
          </a:p>
          <a:p>
            <a:pPr/>
            <a:r>
              <a:rPr b="1" lang="zh-TW" sz="2000" spc="-1" strike="noStrike">
                <a:solidFill>
                  <a:schemeClr val="dk1"/>
                </a:solidFill>
                <a:latin typeface="Aptos"/>
              </a:rPr>
              <a:t>重傳與回退</a:t>
            </a:r>
          </a:p>
          <a:p>
            <a:pPr lvl="1"/>
            <a:r>
              <a:rPr b="1" lang="zh-TW" sz="1700" spc="-1" strike="noStrike">
                <a:solidFill>
                  <a:schemeClr val="dk1"/>
                </a:solidFill>
                <a:latin typeface="Aptos"/>
              </a:rPr>
              <a:t>收到 Nak 後整批重送，而非只重送單一封包</a:t>
            </a:r>
          </a:p>
          <a:p>
            <a:pPr lvl="1"/>
            <a:r>
              <a:rPr b="1" lang="zh-TW" sz="1700" spc="-1" strike="noStrike">
                <a:solidFill>
                  <a:schemeClr val="dk1"/>
                </a:solidFill>
                <a:latin typeface="Aptos"/>
              </a:rPr>
              <a:t>連續失敗觸發 rollover → 確認進入 Recovery</a:t>
            </a:r>
          </a:p>
          <a:p>
            <a:pPr lvl="1"/>
            <a:r>
              <a:rPr b="1" lang="zh-TW" sz="1700" spc="-1" strike="noStrike">
                <a:solidFill>
                  <a:schemeClr val="dk1"/>
                </a:solidFill>
                <a:latin typeface="Aptos"/>
              </a:rPr>
              <a:t>重訓後 replay buffer、序號、credit 皆重新初始化</a:t>
            </a:r>
          </a:p>
          <a:p>
            <a:pPr lvl="1"/>
            <a:r>
              <a:rPr b="1" lang="zh-TW" sz="1700" spc="-1" strike="noStrike">
                <a:solidFill>
                  <a:schemeClr val="dk1"/>
                </a:solidFill>
                <a:latin typeface="Aptos"/>
              </a:rPr>
              <a:t>注入不合法的 Ack 序號 → 應判為 Fatal</a:t>
            </a: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1_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1109</TotalTime>
  <Application>LibreOffice/24.2.5.2$Windows_X86_64 LibreOffice_project/bffef4ea93e59bebbeaf7f431bb02b1a39ee8a59</Application>
  <AppVersion>15.0000</AppVersion>
  <Words>23777</Words>
  <Paragraphs>650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2025-12-16T12:10:00Z</dcterms:created>
  <dc:creator>Kenny Hao Chang(張浩)</dc:creator>
  <dc:description/>
  <dc:language>zh-TW</dc:language>
  <cp:lastModifiedBy/>
  <dcterms:modified xsi:type="dcterms:W3CDTF">2026-01-14T22:15:38Z</dcterms:modified>
  <cp:revision>459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ICV">
    <vt:lpwstr>A4330FA0C49848B7BCAF178E246AD1A7_12</vt:lpwstr>
  </property>
  <property fmtid="{D5CDD505-2E9C-101B-9397-08002B2CF9AE}" pid="4" name="KSOProductBuildVer">
    <vt:lpwstr>3076-12.2.0.22549</vt:lpwstr>
  </property>
  <property fmtid="{D5CDD505-2E9C-101B-9397-08002B2CF9AE}" pid="5" name="Notes">
    <vt:i4>8</vt:i4>
  </property>
  <property fmtid="{D5CDD505-2E9C-101B-9397-08002B2CF9AE}" pid="6" name="PresentationFormat">
    <vt:lpwstr>寬螢幕</vt:lpwstr>
  </property>
  <property fmtid="{D5CDD505-2E9C-101B-9397-08002B2CF9AE}" pid="7" name="Slides">
    <vt:i4>94</vt:i4>
  </property>
</Properties>
</file>